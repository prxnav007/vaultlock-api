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19" r:id="rId2"/>
    <p:sldId id="506" r:id="rId3"/>
    <p:sldId id="514" r:id="rId4"/>
    <p:sldId id="507" r:id="rId5"/>
    <p:sldId id="508" r:id="rId6"/>
    <p:sldId id="509" r:id="rId7"/>
    <p:sldId id="515" r:id="rId8"/>
    <p:sldId id="51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3" d="100"/>
          <a:sy n="33" d="100"/>
        </p:scale>
        <p:origin x="643" y="10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EB6FF-ADAA-45C6-A825-247BBAE19742}" type="datetimeFigureOut">
              <a:rPr lang="en-IN" smtClean="0"/>
              <a:t>24-09-2026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A77BC4-17D5-4B3B-8254-CC862B6A5E2F}" type="slidenum">
              <a:rPr lang="en-IN" smtClean="0"/>
              <a:t>‹#›</a:t>
            </a:fld>
            <a:endParaRPr lang="en-IN" dirty="0"/>
          </a:p>
        </p:txBody>
      </p:sp>
    </p:spTree>
    <p:extLst>
      <p:ext uri="{BB962C8B-B14F-4D97-AF65-F5344CB8AC3E}">
        <p14:creationId xmlns:p14="http://schemas.microsoft.com/office/powerpoint/2010/main" val="2150998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A77BC4-17D5-4B3B-8254-CC862B6A5E2F}" type="slidenum">
              <a:rPr lang="en-IN" smtClean="0"/>
              <a:t>4</a:t>
            </a:fld>
            <a:endParaRPr lang="en-IN" dirty="0"/>
          </a:p>
        </p:txBody>
      </p:sp>
    </p:spTree>
    <p:extLst>
      <p:ext uri="{BB962C8B-B14F-4D97-AF65-F5344CB8AC3E}">
        <p14:creationId xmlns:p14="http://schemas.microsoft.com/office/powerpoint/2010/main" val="1662963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E602E-F900-9031-6AC8-73F10556E0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4C2B61-6876-88B3-A5F9-7B829DA423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A60275-ABCD-B29C-8C0A-6E4F2FD3ECA2}"/>
              </a:ext>
            </a:extLst>
          </p:cNvPr>
          <p:cNvSpPr>
            <a:spLocks noGrp="1"/>
          </p:cNvSpPr>
          <p:nvPr>
            <p:ph type="dt" sz="half" idx="10"/>
          </p:nvPr>
        </p:nvSpPr>
        <p:spPr/>
        <p:txBody>
          <a:bodyPr/>
          <a:lstStyle/>
          <a:p>
            <a:r>
              <a:rPr lang="en-US"/>
              <a:t>Date: DD/MM/YYYY</a:t>
            </a:r>
            <a:endParaRPr lang="en-IN" dirty="0"/>
          </a:p>
        </p:txBody>
      </p:sp>
      <p:sp>
        <p:nvSpPr>
          <p:cNvPr id="5" name="Footer Placeholder 4">
            <a:extLst>
              <a:ext uri="{FF2B5EF4-FFF2-40B4-BE49-F238E27FC236}">
                <a16:creationId xmlns:a16="http://schemas.microsoft.com/office/drawing/2014/main" id="{BCFF3498-F4F9-DB41-CD36-6A221BCB6F6D}"/>
              </a:ext>
            </a:extLst>
          </p:cNvPr>
          <p:cNvSpPr>
            <a:spLocks noGrp="1"/>
          </p:cNvSpPr>
          <p:nvPr>
            <p:ph type="ftr" sz="quarter" idx="11"/>
          </p:nvPr>
        </p:nvSpPr>
        <p:spPr/>
        <p:txBody>
          <a:bodyPr/>
          <a:lstStyle/>
          <a:p>
            <a:r>
              <a:rPr lang="en-US"/>
              <a:t>II–Year PBL Project Review–II</a:t>
            </a:r>
            <a:endParaRPr lang="en-IN" dirty="0"/>
          </a:p>
        </p:txBody>
      </p:sp>
      <p:sp>
        <p:nvSpPr>
          <p:cNvPr id="6" name="Slide Number Placeholder 5">
            <a:extLst>
              <a:ext uri="{FF2B5EF4-FFF2-40B4-BE49-F238E27FC236}">
                <a16:creationId xmlns:a16="http://schemas.microsoft.com/office/drawing/2014/main" id="{B5ACE914-FBBD-92B9-9CA2-3F40FD1D7ED0}"/>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1336633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98DF1-C5BE-6796-70DE-A3F503A71D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F4492F-7D80-29C9-2308-5A8569C2D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13FDF3-E10C-A3F0-B98D-453E8083D116}"/>
              </a:ext>
            </a:extLst>
          </p:cNvPr>
          <p:cNvSpPr>
            <a:spLocks noGrp="1"/>
          </p:cNvSpPr>
          <p:nvPr>
            <p:ph type="dt" sz="half" idx="10"/>
          </p:nvPr>
        </p:nvSpPr>
        <p:spPr/>
        <p:txBody>
          <a:bodyPr/>
          <a:lstStyle/>
          <a:p>
            <a:r>
              <a:rPr lang="en-US"/>
              <a:t>Date: DD/MM/YYYY</a:t>
            </a:r>
            <a:endParaRPr lang="en-IN" dirty="0"/>
          </a:p>
        </p:txBody>
      </p:sp>
      <p:sp>
        <p:nvSpPr>
          <p:cNvPr id="5" name="Footer Placeholder 4">
            <a:extLst>
              <a:ext uri="{FF2B5EF4-FFF2-40B4-BE49-F238E27FC236}">
                <a16:creationId xmlns:a16="http://schemas.microsoft.com/office/drawing/2014/main" id="{E6066F82-2042-C918-C81F-2F9B4F18B336}"/>
              </a:ext>
            </a:extLst>
          </p:cNvPr>
          <p:cNvSpPr>
            <a:spLocks noGrp="1"/>
          </p:cNvSpPr>
          <p:nvPr>
            <p:ph type="ftr" sz="quarter" idx="11"/>
          </p:nvPr>
        </p:nvSpPr>
        <p:spPr/>
        <p:txBody>
          <a:bodyPr/>
          <a:lstStyle/>
          <a:p>
            <a:r>
              <a:rPr lang="en-US"/>
              <a:t>II–Year PBL Project Review–II</a:t>
            </a:r>
            <a:endParaRPr lang="en-IN" dirty="0"/>
          </a:p>
        </p:txBody>
      </p:sp>
      <p:sp>
        <p:nvSpPr>
          <p:cNvPr id="6" name="Slide Number Placeholder 5">
            <a:extLst>
              <a:ext uri="{FF2B5EF4-FFF2-40B4-BE49-F238E27FC236}">
                <a16:creationId xmlns:a16="http://schemas.microsoft.com/office/drawing/2014/main" id="{7CC9D627-19C3-DC54-7CD9-FA5500839118}"/>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3295786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671E6-8C35-83BC-2B33-0655540CB5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5F6C37-AB34-25BE-12C1-AA65FCA8F7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AF8FFD-45F0-DD57-FE3C-9E076ACE2EF3}"/>
              </a:ext>
            </a:extLst>
          </p:cNvPr>
          <p:cNvSpPr>
            <a:spLocks noGrp="1"/>
          </p:cNvSpPr>
          <p:nvPr>
            <p:ph type="dt" sz="half" idx="10"/>
          </p:nvPr>
        </p:nvSpPr>
        <p:spPr/>
        <p:txBody>
          <a:bodyPr/>
          <a:lstStyle/>
          <a:p>
            <a:r>
              <a:rPr lang="en-US"/>
              <a:t>Date: DD/MM/YYYY</a:t>
            </a:r>
            <a:endParaRPr lang="en-IN" dirty="0"/>
          </a:p>
        </p:txBody>
      </p:sp>
      <p:sp>
        <p:nvSpPr>
          <p:cNvPr id="5" name="Footer Placeholder 4">
            <a:extLst>
              <a:ext uri="{FF2B5EF4-FFF2-40B4-BE49-F238E27FC236}">
                <a16:creationId xmlns:a16="http://schemas.microsoft.com/office/drawing/2014/main" id="{A42A5514-393C-EFCE-01F9-B2CE001A8B98}"/>
              </a:ext>
            </a:extLst>
          </p:cNvPr>
          <p:cNvSpPr>
            <a:spLocks noGrp="1"/>
          </p:cNvSpPr>
          <p:nvPr>
            <p:ph type="ftr" sz="quarter" idx="11"/>
          </p:nvPr>
        </p:nvSpPr>
        <p:spPr/>
        <p:txBody>
          <a:bodyPr/>
          <a:lstStyle/>
          <a:p>
            <a:r>
              <a:rPr lang="en-US"/>
              <a:t>II–Year PBL Project Review–II</a:t>
            </a:r>
            <a:endParaRPr lang="en-IN" dirty="0"/>
          </a:p>
        </p:txBody>
      </p:sp>
      <p:sp>
        <p:nvSpPr>
          <p:cNvPr id="6" name="Slide Number Placeholder 5">
            <a:extLst>
              <a:ext uri="{FF2B5EF4-FFF2-40B4-BE49-F238E27FC236}">
                <a16:creationId xmlns:a16="http://schemas.microsoft.com/office/drawing/2014/main" id="{8B5ACB48-3533-1C36-3514-71B63718CF75}"/>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1642056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CD219-FA69-9CBF-FBDE-B710CFB85D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58CF-DE11-9B79-12E3-5342CE5B61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E2B980-E864-34A6-6906-C86638E185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A7FA1C-7B6A-BA75-B37B-195B0F573642}"/>
              </a:ext>
            </a:extLst>
          </p:cNvPr>
          <p:cNvSpPr>
            <a:spLocks noGrp="1"/>
          </p:cNvSpPr>
          <p:nvPr>
            <p:ph type="dt" sz="half" idx="10"/>
          </p:nvPr>
        </p:nvSpPr>
        <p:spPr/>
        <p:txBody>
          <a:bodyPr/>
          <a:lstStyle/>
          <a:p>
            <a:r>
              <a:rPr lang="en-US"/>
              <a:t>Date: DD/MM/YYYY</a:t>
            </a:r>
            <a:endParaRPr lang="en-IN" dirty="0"/>
          </a:p>
        </p:txBody>
      </p:sp>
      <p:sp>
        <p:nvSpPr>
          <p:cNvPr id="6" name="Footer Placeholder 5">
            <a:extLst>
              <a:ext uri="{FF2B5EF4-FFF2-40B4-BE49-F238E27FC236}">
                <a16:creationId xmlns:a16="http://schemas.microsoft.com/office/drawing/2014/main" id="{AD97CB70-8B73-BAB9-8426-FDEFD71637AB}"/>
              </a:ext>
            </a:extLst>
          </p:cNvPr>
          <p:cNvSpPr>
            <a:spLocks noGrp="1"/>
          </p:cNvSpPr>
          <p:nvPr>
            <p:ph type="ftr" sz="quarter" idx="11"/>
          </p:nvPr>
        </p:nvSpPr>
        <p:spPr/>
        <p:txBody>
          <a:bodyPr/>
          <a:lstStyle/>
          <a:p>
            <a:r>
              <a:rPr lang="en-US"/>
              <a:t>II–Year PBL Project Review–II</a:t>
            </a:r>
            <a:endParaRPr lang="en-IN" dirty="0"/>
          </a:p>
        </p:txBody>
      </p:sp>
      <p:sp>
        <p:nvSpPr>
          <p:cNvPr id="7" name="Slide Number Placeholder 6">
            <a:extLst>
              <a:ext uri="{FF2B5EF4-FFF2-40B4-BE49-F238E27FC236}">
                <a16:creationId xmlns:a16="http://schemas.microsoft.com/office/drawing/2014/main" id="{9CA51A4B-870D-163F-53D2-0AADE3398F41}"/>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58239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BA5A0-BB01-6BB8-C159-471001A900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476893-4A4F-426A-A5F6-626610F379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95C00F-0E53-D71D-782E-D740B83A1A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83FF82-8820-CCBF-411E-57C2C0FB43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AF392E-9590-423C-3F62-1B99F8ED7D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51395E-14B8-3C49-B85F-5EE4C7A43EB1}"/>
              </a:ext>
            </a:extLst>
          </p:cNvPr>
          <p:cNvSpPr>
            <a:spLocks noGrp="1"/>
          </p:cNvSpPr>
          <p:nvPr>
            <p:ph type="dt" sz="half" idx="10"/>
          </p:nvPr>
        </p:nvSpPr>
        <p:spPr/>
        <p:txBody>
          <a:bodyPr/>
          <a:lstStyle/>
          <a:p>
            <a:r>
              <a:rPr lang="en-US"/>
              <a:t>Date: DD/MM/YYYY</a:t>
            </a:r>
            <a:endParaRPr lang="en-IN" dirty="0"/>
          </a:p>
        </p:txBody>
      </p:sp>
      <p:sp>
        <p:nvSpPr>
          <p:cNvPr id="8" name="Footer Placeholder 7">
            <a:extLst>
              <a:ext uri="{FF2B5EF4-FFF2-40B4-BE49-F238E27FC236}">
                <a16:creationId xmlns:a16="http://schemas.microsoft.com/office/drawing/2014/main" id="{725F0EAD-79ED-31EE-A7B8-00CA48D0D603}"/>
              </a:ext>
            </a:extLst>
          </p:cNvPr>
          <p:cNvSpPr>
            <a:spLocks noGrp="1"/>
          </p:cNvSpPr>
          <p:nvPr>
            <p:ph type="ftr" sz="quarter" idx="11"/>
          </p:nvPr>
        </p:nvSpPr>
        <p:spPr/>
        <p:txBody>
          <a:bodyPr/>
          <a:lstStyle/>
          <a:p>
            <a:r>
              <a:rPr lang="en-US"/>
              <a:t>II–Year PBL Project Review–II</a:t>
            </a:r>
            <a:endParaRPr lang="en-IN" dirty="0"/>
          </a:p>
        </p:txBody>
      </p:sp>
      <p:sp>
        <p:nvSpPr>
          <p:cNvPr id="9" name="Slide Number Placeholder 8">
            <a:extLst>
              <a:ext uri="{FF2B5EF4-FFF2-40B4-BE49-F238E27FC236}">
                <a16:creationId xmlns:a16="http://schemas.microsoft.com/office/drawing/2014/main" id="{439BBB80-F93E-5FA1-B554-B865EFB6E32E}"/>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573444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0E9A-C769-7BAB-77EC-E3DD0C871D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9FE8A4-529A-DDB2-CFFE-2621FA7238E2}"/>
              </a:ext>
            </a:extLst>
          </p:cNvPr>
          <p:cNvSpPr>
            <a:spLocks noGrp="1"/>
          </p:cNvSpPr>
          <p:nvPr>
            <p:ph type="dt" sz="half" idx="10"/>
          </p:nvPr>
        </p:nvSpPr>
        <p:spPr/>
        <p:txBody>
          <a:bodyPr/>
          <a:lstStyle/>
          <a:p>
            <a:r>
              <a:rPr lang="en-US"/>
              <a:t>Date: DD/MM/YYYY</a:t>
            </a:r>
            <a:endParaRPr lang="en-IN" dirty="0"/>
          </a:p>
        </p:txBody>
      </p:sp>
      <p:sp>
        <p:nvSpPr>
          <p:cNvPr id="4" name="Footer Placeholder 3">
            <a:extLst>
              <a:ext uri="{FF2B5EF4-FFF2-40B4-BE49-F238E27FC236}">
                <a16:creationId xmlns:a16="http://schemas.microsoft.com/office/drawing/2014/main" id="{D097F48B-5C43-9F3A-55CC-A47A74EE7EC2}"/>
              </a:ext>
            </a:extLst>
          </p:cNvPr>
          <p:cNvSpPr>
            <a:spLocks noGrp="1"/>
          </p:cNvSpPr>
          <p:nvPr>
            <p:ph type="ftr" sz="quarter" idx="11"/>
          </p:nvPr>
        </p:nvSpPr>
        <p:spPr/>
        <p:txBody>
          <a:bodyPr/>
          <a:lstStyle/>
          <a:p>
            <a:r>
              <a:rPr lang="en-US"/>
              <a:t>II–Year PBL Project Review–II</a:t>
            </a:r>
            <a:endParaRPr lang="en-IN" dirty="0"/>
          </a:p>
        </p:txBody>
      </p:sp>
      <p:sp>
        <p:nvSpPr>
          <p:cNvPr id="5" name="Slide Number Placeholder 4">
            <a:extLst>
              <a:ext uri="{FF2B5EF4-FFF2-40B4-BE49-F238E27FC236}">
                <a16:creationId xmlns:a16="http://schemas.microsoft.com/office/drawing/2014/main" id="{830BDCAC-FA44-2D60-C7FB-00EA9C2A993F}"/>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282954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AFBC8-4429-3CF2-D7FD-013C843A5885}"/>
              </a:ext>
            </a:extLst>
          </p:cNvPr>
          <p:cNvSpPr>
            <a:spLocks noGrp="1"/>
          </p:cNvSpPr>
          <p:nvPr>
            <p:ph type="dt" sz="half" idx="10"/>
          </p:nvPr>
        </p:nvSpPr>
        <p:spPr/>
        <p:txBody>
          <a:bodyPr/>
          <a:lstStyle/>
          <a:p>
            <a:r>
              <a:rPr lang="en-US"/>
              <a:t>Date: DD/MM/YYYY</a:t>
            </a:r>
            <a:endParaRPr lang="en-IN" dirty="0"/>
          </a:p>
        </p:txBody>
      </p:sp>
      <p:sp>
        <p:nvSpPr>
          <p:cNvPr id="3" name="Footer Placeholder 2">
            <a:extLst>
              <a:ext uri="{FF2B5EF4-FFF2-40B4-BE49-F238E27FC236}">
                <a16:creationId xmlns:a16="http://schemas.microsoft.com/office/drawing/2014/main" id="{C86F2463-4C84-38B5-C473-94DEDD337FD6}"/>
              </a:ext>
            </a:extLst>
          </p:cNvPr>
          <p:cNvSpPr>
            <a:spLocks noGrp="1"/>
          </p:cNvSpPr>
          <p:nvPr>
            <p:ph type="ftr" sz="quarter" idx="11"/>
          </p:nvPr>
        </p:nvSpPr>
        <p:spPr/>
        <p:txBody>
          <a:bodyPr/>
          <a:lstStyle/>
          <a:p>
            <a:r>
              <a:rPr lang="en-US"/>
              <a:t>II–Year PBL Project Review–II</a:t>
            </a:r>
            <a:endParaRPr lang="en-IN" dirty="0"/>
          </a:p>
        </p:txBody>
      </p:sp>
      <p:sp>
        <p:nvSpPr>
          <p:cNvPr id="4" name="Slide Number Placeholder 3">
            <a:extLst>
              <a:ext uri="{FF2B5EF4-FFF2-40B4-BE49-F238E27FC236}">
                <a16:creationId xmlns:a16="http://schemas.microsoft.com/office/drawing/2014/main" id="{C6D4EB43-8F87-9269-D6F6-0FBA032535D8}"/>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3723765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1E04-8BD9-6B68-FC0F-A711F6A8CC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7F50A1-7EB1-0089-AFE0-A0B4139BAA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8D8750-631F-0F8E-8365-7236BB4F64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EE415-B1A5-EF49-8E72-3A526EF23D52}"/>
              </a:ext>
            </a:extLst>
          </p:cNvPr>
          <p:cNvSpPr>
            <a:spLocks noGrp="1"/>
          </p:cNvSpPr>
          <p:nvPr>
            <p:ph type="dt" sz="half" idx="10"/>
          </p:nvPr>
        </p:nvSpPr>
        <p:spPr/>
        <p:txBody>
          <a:bodyPr/>
          <a:lstStyle/>
          <a:p>
            <a:r>
              <a:rPr lang="en-US"/>
              <a:t>Date: DD/MM/YYYY</a:t>
            </a:r>
            <a:endParaRPr lang="en-IN" dirty="0"/>
          </a:p>
        </p:txBody>
      </p:sp>
      <p:sp>
        <p:nvSpPr>
          <p:cNvPr id="6" name="Footer Placeholder 5">
            <a:extLst>
              <a:ext uri="{FF2B5EF4-FFF2-40B4-BE49-F238E27FC236}">
                <a16:creationId xmlns:a16="http://schemas.microsoft.com/office/drawing/2014/main" id="{264330E7-EC53-C9ED-DBB8-5B347D7F26B2}"/>
              </a:ext>
            </a:extLst>
          </p:cNvPr>
          <p:cNvSpPr>
            <a:spLocks noGrp="1"/>
          </p:cNvSpPr>
          <p:nvPr>
            <p:ph type="ftr" sz="quarter" idx="11"/>
          </p:nvPr>
        </p:nvSpPr>
        <p:spPr/>
        <p:txBody>
          <a:bodyPr/>
          <a:lstStyle/>
          <a:p>
            <a:r>
              <a:rPr lang="en-US"/>
              <a:t>II–Year PBL Project Review–II</a:t>
            </a:r>
            <a:endParaRPr lang="en-IN" dirty="0"/>
          </a:p>
        </p:txBody>
      </p:sp>
      <p:sp>
        <p:nvSpPr>
          <p:cNvPr id="7" name="Slide Number Placeholder 6">
            <a:extLst>
              <a:ext uri="{FF2B5EF4-FFF2-40B4-BE49-F238E27FC236}">
                <a16:creationId xmlns:a16="http://schemas.microsoft.com/office/drawing/2014/main" id="{CEDCD15B-3E89-C907-AE04-8C7A74F28BCA}"/>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3747313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BE34-C477-BD1D-5C4A-423A42EC47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F98EAA-EB77-18BB-153B-3C2C17FD4C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4EF9DA39-FACA-F80B-5621-B93583F1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DF808F-D30B-9980-A54D-AF59385A3490}"/>
              </a:ext>
            </a:extLst>
          </p:cNvPr>
          <p:cNvSpPr>
            <a:spLocks noGrp="1"/>
          </p:cNvSpPr>
          <p:nvPr>
            <p:ph type="dt" sz="half" idx="10"/>
          </p:nvPr>
        </p:nvSpPr>
        <p:spPr/>
        <p:txBody>
          <a:bodyPr/>
          <a:lstStyle/>
          <a:p>
            <a:r>
              <a:rPr lang="en-US"/>
              <a:t>Date: DD/MM/YYYY</a:t>
            </a:r>
            <a:endParaRPr lang="en-IN" dirty="0"/>
          </a:p>
        </p:txBody>
      </p:sp>
      <p:sp>
        <p:nvSpPr>
          <p:cNvPr id="6" name="Footer Placeholder 5">
            <a:extLst>
              <a:ext uri="{FF2B5EF4-FFF2-40B4-BE49-F238E27FC236}">
                <a16:creationId xmlns:a16="http://schemas.microsoft.com/office/drawing/2014/main" id="{77D7B967-36B2-D49E-ACAA-62ED9017942D}"/>
              </a:ext>
            </a:extLst>
          </p:cNvPr>
          <p:cNvSpPr>
            <a:spLocks noGrp="1"/>
          </p:cNvSpPr>
          <p:nvPr>
            <p:ph type="ftr" sz="quarter" idx="11"/>
          </p:nvPr>
        </p:nvSpPr>
        <p:spPr/>
        <p:txBody>
          <a:bodyPr/>
          <a:lstStyle/>
          <a:p>
            <a:r>
              <a:rPr lang="en-US"/>
              <a:t>II–Year PBL Project Review–II</a:t>
            </a:r>
            <a:endParaRPr lang="en-IN" dirty="0"/>
          </a:p>
        </p:txBody>
      </p:sp>
      <p:sp>
        <p:nvSpPr>
          <p:cNvPr id="7" name="Slide Number Placeholder 6">
            <a:extLst>
              <a:ext uri="{FF2B5EF4-FFF2-40B4-BE49-F238E27FC236}">
                <a16:creationId xmlns:a16="http://schemas.microsoft.com/office/drawing/2014/main" id="{47F779D1-E21D-CDFE-D44E-F0AE9A47EA2F}"/>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1135041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8ADA2-FAF6-FC43-216D-329339BBA6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F6FCD0-243C-6296-B116-1BE620DC32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754B15-B895-3960-42A1-243C13660B3C}"/>
              </a:ext>
            </a:extLst>
          </p:cNvPr>
          <p:cNvSpPr>
            <a:spLocks noGrp="1"/>
          </p:cNvSpPr>
          <p:nvPr>
            <p:ph type="dt" sz="half" idx="10"/>
          </p:nvPr>
        </p:nvSpPr>
        <p:spPr/>
        <p:txBody>
          <a:bodyPr/>
          <a:lstStyle/>
          <a:p>
            <a:r>
              <a:rPr lang="en-US"/>
              <a:t>Date: DD/MM/YYYY</a:t>
            </a:r>
            <a:endParaRPr lang="en-IN" dirty="0"/>
          </a:p>
        </p:txBody>
      </p:sp>
      <p:sp>
        <p:nvSpPr>
          <p:cNvPr id="5" name="Footer Placeholder 4">
            <a:extLst>
              <a:ext uri="{FF2B5EF4-FFF2-40B4-BE49-F238E27FC236}">
                <a16:creationId xmlns:a16="http://schemas.microsoft.com/office/drawing/2014/main" id="{E0F702E8-C53E-4EA8-5371-E99E20C0BC16}"/>
              </a:ext>
            </a:extLst>
          </p:cNvPr>
          <p:cNvSpPr>
            <a:spLocks noGrp="1"/>
          </p:cNvSpPr>
          <p:nvPr>
            <p:ph type="ftr" sz="quarter" idx="11"/>
          </p:nvPr>
        </p:nvSpPr>
        <p:spPr/>
        <p:txBody>
          <a:bodyPr/>
          <a:lstStyle/>
          <a:p>
            <a:r>
              <a:rPr lang="en-US"/>
              <a:t>II–Year PBL Project Review–II</a:t>
            </a:r>
            <a:endParaRPr lang="en-IN" dirty="0"/>
          </a:p>
        </p:txBody>
      </p:sp>
      <p:sp>
        <p:nvSpPr>
          <p:cNvPr id="6" name="Slide Number Placeholder 5">
            <a:extLst>
              <a:ext uri="{FF2B5EF4-FFF2-40B4-BE49-F238E27FC236}">
                <a16:creationId xmlns:a16="http://schemas.microsoft.com/office/drawing/2014/main" id="{2F71A6DE-5D9F-FF19-9DCE-40347D324F86}"/>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720322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0E82D7-F785-4947-1FAC-D31467C679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B5C0C9-4A27-BB0A-99C0-CD5C624AAA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A07FE6-F9D6-5313-31D3-3B456B3EC4CF}"/>
              </a:ext>
            </a:extLst>
          </p:cNvPr>
          <p:cNvSpPr>
            <a:spLocks noGrp="1"/>
          </p:cNvSpPr>
          <p:nvPr>
            <p:ph type="dt" sz="half" idx="10"/>
          </p:nvPr>
        </p:nvSpPr>
        <p:spPr/>
        <p:txBody>
          <a:bodyPr/>
          <a:lstStyle/>
          <a:p>
            <a:r>
              <a:rPr lang="en-US"/>
              <a:t>Date: DD/MM/YYYY</a:t>
            </a:r>
            <a:endParaRPr lang="en-IN" dirty="0"/>
          </a:p>
        </p:txBody>
      </p:sp>
      <p:sp>
        <p:nvSpPr>
          <p:cNvPr id="5" name="Footer Placeholder 4">
            <a:extLst>
              <a:ext uri="{FF2B5EF4-FFF2-40B4-BE49-F238E27FC236}">
                <a16:creationId xmlns:a16="http://schemas.microsoft.com/office/drawing/2014/main" id="{58BC271F-B837-12E3-63A5-2BF92AF5D042}"/>
              </a:ext>
            </a:extLst>
          </p:cNvPr>
          <p:cNvSpPr>
            <a:spLocks noGrp="1"/>
          </p:cNvSpPr>
          <p:nvPr>
            <p:ph type="ftr" sz="quarter" idx="11"/>
          </p:nvPr>
        </p:nvSpPr>
        <p:spPr/>
        <p:txBody>
          <a:bodyPr/>
          <a:lstStyle/>
          <a:p>
            <a:r>
              <a:rPr lang="en-US"/>
              <a:t>II–Year PBL Project Review–II</a:t>
            </a:r>
            <a:endParaRPr lang="en-IN" dirty="0"/>
          </a:p>
        </p:txBody>
      </p:sp>
      <p:sp>
        <p:nvSpPr>
          <p:cNvPr id="6" name="Slide Number Placeholder 5">
            <a:extLst>
              <a:ext uri="{FF2B5EF4-FFF2-40B4-BE49-F238E27FC236}">
                <a16:creationId xmlns:a16="http://schemas.microsoft.com/office/drawing/2014/main" id="{A3A47357-8C1B-DAF7-EA68-D7B300470F19}"/>
              </a:ext>
            </a:extLst>
          </p:cNvPr>
          <p:cNvSpPr>
            <a:spLocks noGrp="1"/>
          </p:cNvSpPr>
          <p:nvPr>
            <p:ph type="sldNum" sz="quarter" idx="12"/>
          </p:nvPr>
        </p:nvSpPr>
        <p:spPr/>
        <p:txBody>
          <a:bodyPr/>
          <a:lstStyle/>
          <a:p>
            <a:fld id="{B4EE2AE5-9218-4A07-842F-E84162EAAD55}" type="slidenum">
              <a:rPr lang="en-IN" smtClean="0"/>
              <a:t>‹#›</a:t>
            </a:fld>
            <a:endParaRPr lang="en-IN" dirty="0"/>
          </a:p>
        </p:txBody>
      </p:sp>
    </p:spTree>
    <p:extLst>
      <p:ext uri="{BB962C8B-B14F-4D97-AF65-F5344CB8AC3E}">
        <p14:creationId xmlns:p14="http://schemas.microsoft.com/office/powerpoint/2010/main" val="26906426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8000"/>
            <a:lum/>
          </a:blip>
          <a:srcRect/>
          <a:stretch>
            <a:fillRect l="4000" t="15000" r="4000" b="1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500EC-1157-3044-AF8C-8BB8052A0F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1158B8-89EE-6370-40DB-B553292010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70FA01-4EFB-2556-186F-6EDC8B37E2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 DD/MM/YYYY</a:t>
            </a:r>
            <a:endParaRPr lang="en-IN" dirty="0"/>
          </a:p>
        </p:txBody>
      </p:sp>
      <p:sp>
        <p:nvSpPr>
          <p:cNvPr id="5" name="Footer Placeholder 4">
            <a:extLst>
              <a:ext uri="{FF2B5EF4-FFF2-40B4-BE49-F238E27FC236}">
                <a16:creationId xmlns:a16="http://schemas.microsoft.com/office/drawing/2014/main" id="{2C73A508-2D6B-F27D-0E75-55977FA039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II–Year PBL Project Review–II</a:t>
            </a:r>
            <a:endParaRPr lang="en-IN" dirty="0"/>
          </a:p>
        </p:txBody>
      </p:sp>
      <p:sp>
        <p:nvSpPr>
          <p:cNvPr id="6" name="Slide Number Placeholder 5">
            <a:extLst>
              <a:ext uri="{FF2B5EF4-FFF2-40B4-BE49-F238E27FC236}">
                <a16:creationId xmlns:a16="http://schemas.microsoft.com/office/drawing/2014/main" id="{D689B5CE-202A-2084-F4FC-495F1B77B5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EE2AE5-9218-4A07-842F-E84162EAAD55}" type="slidenum">
              <a:rPr lang="en-IN" smtClean="0"/>
              <a:t>‹#›</a:t>
            </a:fld>
            <a:endParaRPr lang="en-IN" dirty="0"/>
          </a:p>
        </p:txBody>
      </p:sp>
    </p:spTree>
    <p:extLst>
      <p:ext uri="{BB962C8B-B14F-4D97-AF65-F5344CB8AC3E}">
        <p14:creationId xmlns:p14="http://schemas.microsoft.com/office/powerpoint/2010/main" val="3469418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514759"/>
            <a:ext cx="10515600" cy="1137422"/>
          </a:xfrm>
          <a:noFill/>
        </p:spPr>
        <p:txBody>
          <a:bodyPr>
            <a:normAutofit/>
          </a:bodyPr>
          <a:lstStyle/>
          <a:p>
            <a:r>
              <a:rPr lang="en-US" sz="3200" b="1" dirty="0">
                <a:latin typeface="Times New Roman" panose="02020603050405020304" pitchFamily="18" charset="0"/>
                <a:cs typeface="Times New Roman" panose="02020603050405020304" pitchFamily="18" charset="0"/>
              </a:rPr>
              <a:t>CS3503 – Machine Learning PBL</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Project Review</a:t>
            </a:r>
            <a:endParaRPr lang="en-IN" sz="3200" b="1" dirty="0">
              <a:latin typeface="Times New Roman" panose="02020603050405020304" pitchFamily="18" charset="0"/>
              <a:cs typeface="Times New Roman" panose="02020603050405020304" pitchFamily="18" charset="0"/>
            </a:endParaRPr>
          </a:p>
        </p:txBody>
      </p:sp>
      <p:sp>
        <p:nvSpPr>
          <p:cNvPr id="8" name="Subtitle 2">
            <a:extLst>
              <a:ext uri="{FF2B5EF4-FFF2-40B4-BE49-F238E27FC236}">
                <a16:creationId xmlns:a16="http://schemas.microsoft.com/office/drawing/2014/main" id="{E695C9B8-2B8D-722A-D1E4-DB26ABC2277D}"/>
              </a:ext>
            </a:extLst>
          </p:cNvPr>
          <p:cNvSpPr>
            <a:spLocks noGrp="1"/>
          </p:cNvSpPr>
          <p:nvPr>
            <p:ph type="subTitle" idx="1"/>
          </p:nvPr>
        </p:nvSpPr>
        <p:spPr>
          <a:xfrm>
            <a:off x="467253" y="4205820"/>
            <a:ext cx="4822502" cy="1747839"/>
          </a:xfrm>
          <a:noFill/>
        </p:spPr>
        <p:txBody>
          <a:bodyPr rtlCol="0" wrap="square">
            <a:normAutofit/>
          </a:bodyPr>
          <a:lstStyle/>
          <a:p>
            <a:pPr algn="l" eaLnBrk="1" fontAlgn="auto" hangingPunct="1" marL="0" indent="0">
              <a:spcBef>
                <a:spcPts val="0"/>
              </a:spcBef>
              <a:spcAft>
                <a:spcPts val="0"/>
              </a:spcAft>
              <a:buClr>
                <a:srgbClr val="D34817"/>
              </a:buClr>
              <a:buSzPct val="85000"/>
              <a:defRPr/>
              <a:buNone/>
            </a:pPr>
            <a:r>
              <a:rPr lang="en-US" sz="2000" b="1" dirty="0" i="0">
                <a:solidFill>
                  <a:srgbClr val="000000"/>
                </a:solidFill>
                <a:latin typeface="Times New Roman" panose="02020603050405020304" pitchFamily="18" charset="0"/>
                <a:cs typeface="Times New Roman" panose="02020603050405020304" pitchFamily="18" charset="0"/>
              </a:rPr>
              <a:t>Presentation by</a:t>
            </a:r>
            <a:endParaRPr lang="en-US" sz="2000" dirty="0">
              <a:solidFill>
                <a:srgbClr val="000000"/>
              </a:solidFill>
              <a:latin typeface="Times New Roman" panose="02020603050405020304" pitchFamily="18" charset="0"/>
              <a:cs typeface="Times New Roman" panose="02020603050405020304" pitchFamily="18" charset="0"/>
            </a:endParaRPr>
          </a:p>
          <a:p>
            <a:pPr algn="l" marL="0" indent="0">
              <a:spcBef>
                <a:spcPts val="0"/>
              </a:spcBef>
              <a:buClr>
                <a:srgbClr val="D34817"/>
              </a:buClr>
              <a:buSzPct val="85000"/>
              <a:defRPr/>
              <a:buNone/>
            </a:pPr>
            <a:r>
              <a:rPr lang="en-US" sz="1600" dirty="0" b="0" i="0">
                <a:solidFill>
                  <a:srgbClr val="000000"/>
                </a:solidFill>
                <a:latin typeface="Times New Roman" panose="02020603050405020304" pitchFamily="18" charset="0"/>
                <a:cs typeface="Times New Roman" panose="02020603050405020304" pitchFamily="18" charset="0"/>
              </a:rPr>
              <a:t>PRANAV KUMAR GATTUPALLI  (2104251040699)</a:t>
            </a:r>
          </a:p>
          <a:p>
            <a:pPr algn="l" marL="0" indent="0">
              <a:spcBef>
                <a:spcPts val="400"/>
              </a:spcBef>
              <a:buClr>
                <a:srgbClr val="D34817"/>
              </a:buClr>
              <a:buSzPct val="85000"/>
              <a:defRPr/>
              <a:buNone/>
            </a:pPr>
            <a:r>
              <a:rPr lang="en-US" sz="1600" dirty="0" b="0" i="0">
                <a:solidFill>
                  <a:srgbClr val="000000"/>
                </a:solidFill>
                <a:latin typeface="Times New Roman" panose="02020603050405020304" pitchFamily="18" charset="0"/>
                <a:cs typeface="Times New Roman" panose="02020603050405020304" pitchFamily="18" charset="0"/>
              </a:rPr>
              <a:t>MONIKA P D  (2104251040682)</a:t>
            </a:r>
          </a:p>
          <a:p>
            <a:pPr algn="l" marL="0" indent="0">
              <a:spcBef>
                <a:spcPts val="400"/>
              </a:spcBef>
              <a:buClr>
                <a:srgbClr val="D34817"/>
              </a:buClr>
              <a:buSzPct val="85000"/>
              <a:defRPr/>
              <a:buNone/>
            </a:pPr>
            <a:r>
              <a:rPr lang="en-US" sz="1600" dirty="0" b="0" i="0">
                <a:solidFill>
                  <a:srgbClr val="000000"/>
                </a:solidFill>
                <a:latin typeface="Times New Roman" panose="02020603050405020304" pitchFamily="18" charset="0"/>
                <a:cs typeface="Times New Roman" panose="02020603050405020304" pitchFamily="18" charset="0"/>
              </a:rPr>
              <a:t>Dept. of Computer Science and Engineering</a:t>
            </a:r>
          </a:p>
        </p:txBody>
      </p:sp>
      <p:pic>
        <p:nvPicPr>
          <p:cNvPr id="7" name="Picture 6">
            <a:extLst>
              <a:ext uri="{FF2B5EF4-FFF2-40B4-BE49-F238E27FC236}">
                <a16:creationId xmlns:a16="http://schemas.microsoft.com/office/drawing/2014/main" id="{354B01F8-75A2-E674-8FB3-91C160A64803}"/>
              </a:ext>
            </a:extLst>
          </p:cNvPr>
          <p:cNvPicPr>
            <a:picLocks noChangeAspect="1"/>
          </p:cNvPicPr>
          <p:nvPr/>
        </p:nvPicPr>
        <p:blipFill>
          <a:blip r:embed="rId2"/>
          <a:srcRect t="8407" b="13744"/>
          <a:stretch>
            <a:fillRect/>
          </a:stretch>
        </p:blipFill>
        <p:spPr>
          <a:xfrm>
            <a:off x="2746627" y="136526"/>
            <a:ext cx="6698746" cy="1137422"/>
          </a:xfrm>
          <a:prstGeom prst="rect">
            <a:avLst/>
          </a:prstGeom>
        </p:spPr>
      </p:pic>
      <p:sp>
        <p:nvSpPr>
          <p:cNvPr id="11" name="TextBox 10">
            <a:extLst>
              <a:ext uri="{FF2B5EF4-FFF2-40B4-BE49-F238E27FC236}">
                <a16:creationId xmlns:a16="http://schemas.microsoft.com/office/drawing/2014/main" id="{8A8A47D1-B6FE-DF05-8C4F-BF8ADA8CECA2}"/>
              </a:ext>
            </a:extLst>
          </p:cNvPr>
          <p:cNvSpPr txBox="1"/>
          <p:nvPr/>
        </p:nvSpPr>
        <p:spPr>
          <a:xfrm>
            <a:off x="841248" y="2788920"/>
            <a:ext cx="10515600" cy="400110"/>
          </a:xfrm>
          <a:prstGeom prst="rect">
            <a:avLst/>
          </a:prstGeom>
          <a:noFill/>
        </p:spPr>
        <p:txBody>
          <a:bodyPr wrap="square">
            <a:spAutoFit/>
          </a:bodyPr>
          <a:lstStyle/>
          <a:p>
            <a:pPr algn="ctr" marL="0" indent="0">
              <a:spcBef>
                <a:spcPts val="0"/>
              </a:spcBef>
              <a:buNone/>
            </a:pPr>
            <a:r>
              <a:rPr lang="en-IN" sz="2000" b="1" dirty="0" i="0">
                <a:latin typeface="Times New Roman" panose="02020603050405020304" pitchFamily="18" charset="0"/>
                <a:cs typeface="Times New Roman" panose="02020603050405020304" pitchFamily="18" charset="0"/>
              </a:rPr>
              <a:t>VAULT-API: Idempotent Payment Infrastructure with Explainable Transaction-Driven Merchant Churn Prediction</a:t>
            </a:r>
            <a:endParaRPr lang="en-IN" sz="2000" dirty="0">
              <a:latin typeface="Times New Roman" panose="02020603050405020304" pitchFamily="18" charset="0"/>
              <a:cs typeface="Times New Roman" panose="02020603050405020304" pitchFamily="18" charset="0"/>
            </a:endParaRPr>
          </a:p>
        </p:txBody>
      </p:sp>
      <p:sp>
        <p:nvSpPr>
          <p:cNvPr id="12" name="Subtitle 2">
            <a:extLst>
              <a:ext uri="{FF2B5EF4-FFF2-40B4-BE49-F238E27FC236}">
                <a16:creationId xmlns:a16="http://schemas.microsoft.com/office/drawing/2014/main" id="{3E79CF91-FEBC-8843-2396-3F73C4A93418}"/>
              </a:ext>
            </a:extLst>
          </p:cNvPr>
          <p:cNvSpPr txBox="1">
            <a:spLocks/>
          </p:cNvSpPr>
          <p:nvPr/>
        </p:nvSpPr>
        <p:spPr>
          <a:xfrm>
            <a:off x="7164038" y="4205819"/>
            <a:ext cx="4562669" cy="1747839"/>
          </a:xfrm>
          <a:prstGeom prst="rect">
            <a:avLst/>
          </a:prstGeom>
          <a:noFill/>
        </p:spPr>
        <p:txBody>
          <a:bodyPr vert="horz" lIns="91440" tIns="45720" rIns="91440" bIns="45720" rtlCol="0" wrap="square">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marL="0" indent="0">
              <a:spcBef>
                <a:spcPts val="0"/>
              </a:spcBef>
              <a:buClr>
                <a:srgbClr val="D34817"/>
              </a:buClr>
              <a:buSzPct val="85000"/>
              <a:defRPr/>
              <a:buNone/>
            </a:pPr>
            <a:r>
              <a:rPr lang="en-US" sz="2000" b="1" dirty="0" i="0">
                <a:solidFill>
                  <a:srgbClr val="000000"/>
                </a:solidFill>
                <a:latin typeface="Times New Roman" panose="02020603050405020304" pitchFamily="18" charset="0"/>
                <a:cs typeface="Times New Roman" panose="02020603050405020304" pitchFamily="18" charset="0"/>
              </a:rPr>
              <a:t>Mentor</a:t>
            </a:r>
          </a:p>
          <a:p>
            <a:pPr algn="l" marL="0" indent="0">
              <a:spcBef>
                <a:spcPts val="0"/>
              </a:spcBef>
              <a:buClr>
                <a:srgbClr val="D34817"/>
              </a:buClr>
              <a:buSzPct val="85000"/>
              <a:defRPr/>
              <a:buNone/>
            </a:pPr>
            <a:r>
              <a:rPr lang="en-US" sz="1600" dirty="0" b="0" i="0">
                <a:solidFill>
                  <a:srgbClr val="000000"/>
                </a:solidFill>
                <a:latin typeface="Times New Roman" panose="02020603050405020304" pitchFamily="18" charset="0"/>
                <a:cs typeface="Times New Roman" panose="02020603050405020304" pitchFamily="18" charset="0"/>
              </a:rPr>
              <a:t>Dr. THIYAGARAJAN, Ph.D.</a:t>
            </a:r>
          </a:p>
          <a:p>
            <a:pPr algn="l" marL="0" indent="0">
              <a:spcBef>
                <a:spcPts val="400"/>
              </a:spcBef>
              <a:buClr>
                <a:srgbClr val="D34817"/>
              </a:buClr>
              <a:buSzPct val="85000"/>
              <a:defRPr/>
              <a:buNone/>
            </a:pPr>
            <a:r>
              <a:rPr lang="en-US" sz="1600" dirty="0" b="0" i="0">
                <a:solidFill>
                  <a:srgbClr val="000000"/>
                </a:solidFill>
                <a:latin typeface="Times New Roman" panose="02020603050405020304" pitchFamily="18" charset="0"/>
                <a:cs typeface="Times New Roman" panose="02020603050405020304" pitchFamily="18" charset="0"/>
              </a:rPr>
              <a:t>Associate Professor</a:t>
            </a:r>
          </a:p>
          <a:p>
            <a:pPr algn="l" marL="0" indent="0">
              <a:spcBef>
                <a:spcPts val="400"/>
              </a:spcBef>
              <a:buClr>
                <a:srgbClr val="D34817"/>
              </a:buClr>
              <a:buSzPct val="85000"/>
              <a:defRPr/>
              <a:buNone/>
            </a:pPr>
            <a:r>
              <a:rPr lang="en-US" sz="1600" dirty="0" b="0" i="0">
                <a:solidFill>
                  <a:srgbClr val="000000"/>
                </a:solidFill>
                <a:latin typeface="Times New Roman" panose="02020603050405020304" pitchFamily="18" charset="0"/>
                <a:cs typeface="Times New Roman" panose="02020603050405020304" pitchFamily="18" charset="0"/>
              </a:rPr>
              <a:t>Dept. of Computer Science and Engineering</a:t>
            </a:r>
          </a:p>
        </p:txBody>
      </p:sp>
      <p:sp>
        <p:nvSpPr>
          <p:cNvPr id="16" name="Slide Number Placeholder 15">
            <a:extLst>
              <a:ext uri="{FF2B5EF4-FFF2-40B4-BE49-F238E27FC236}">
                <a16:creationId xmlns:a16="http://schemas.microsoft.com/office/drawing/2014/main" id="{4DD7FD45-5E4F-0506-E6E9-699A49C3E51C}"/>
              </a:ext>
            </a:extLst>
          </p:cNvPr>
          <p:cNvSpPr>
            <a:spLocks noGrp="1"/>
          </p:cNvSpPr>
          <p:nvPr>
            <p:ph type="sldNum" sz="quarter" idx="12"/>
          </p:nvPr>
        </p:nvSpPr>
        <p:spPr/>
        <p:txBody>
          <a:bodyPr/>
          <a:lstStyle/>
          <a:p>
            <a:fld id="{B4EE2AE5-9218-4A07-842F-E84162EAAD55}" type="slidenum">
              <a:rPr lang="en-IN" smtClean="0"/>
              <a:t>1</a:t>
            </a:fld>
            <a:endParaRPr lang="en-IN" dirty="0"/>
          </a:p>
        </p:txBody>
      </p:sp>
      <p:sp>
        <p:nvSpPr>
          <p:cNvPr id="17" name="Date Placeholder 16">
            <a:extLst>
              <a:ext uri="{FF2B5EF4-FFF2-40B4-BE49-F238E27FC236}">
                <a16:creationId xmlns:a16="http://schemas.microsoft.com/office/drawing/2014/main" id="{CD744800-7B7D-1CC0-99F0-27E4BA9DEBBF}"/>
              </a:ext>
            </a:extLst>
          </p:cNvPr>
          <p:cNvSpPr>
            <a:spLocks noGrp="1"/>
          </p:cNvSpPr>
          <p:nvPr>
            <p:ph type="dt" sz="half" idx="10"/>
          </p:nvPr>
        </p:nvSpPr>
        <p:spPr/>
        <p:txBody>
          <a:bodyPr/>
          <a:lstStyle/>
          <a:p>
            <a:r>
              <a:rPr lang="en-US"/>
              <a:t>Date: 07/10/2026</a:t>
            </a:r>
            <a:endParaRPr lang="en-IN" dirty="0"/>
          </a:p>
        </p:txBody>
      </p:sp>
      <p:sp>
        <p:nvSpPr>
          <p:cNvPr id="18" name="Footer Placeholder 17">
            <a:extLst>
              <a:ext uri="{FF2B5EF4-FFF2-40B4-BE49-F238E27FC236}">
                <a16:creationId xmlns:a16="http://schemas.microsoft.com/office/drawing/2014/main" id="{1FE1F1F0-72E3-4268-62A9-CA71368ADF3A}"/>
              </a:ext>
            </a:extLst>
          </p:cNvPr>
          <p:cNvSpPr>
            <a:spLocks noGrp="1"/>
          </p:cNvSpPr>
          <p:nvPr>
            <p:ph type="ftr" sz="quarter" idx="11"/>
          </p:nvPr>
        </p:nvSpPr>
        <p:spPr/>
        <p:txBody>
          <a:bodyPr/>
          <a:lstStyle/>
          <a:p>
            <a:r>
              <a:rPr lang="en-US" dirty="0"/>
              <a:t>II–Year PBL Project Final Review</a:t>
            </a:r>
            <a:endParaRPr lang="en-IN" dirty="0"/>
          </a:p>
        </p:txBody>
      </p:sp>
    </p:spTree>
    <p:extLst>
      <p:ext uri="{BB962C8B-B14F-4D97-AF65-F5344CB8AC3E}">
        <p14:creationId xmlns:p14="http://schemas.microsoft.com/office/powerpoint/2010/main" val="1292171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CACB-BD96-E2FF-8A86-211497479DAF}"/>
              </a:ext>
            </a:extLst>
          </p:cNvPr>
          <p:cNvSpPr>
            <a:spLocks noGrp="1"/>
          </p:cNvSpPr>
          <p:nvPr>
            <p:ph type="title"/>
          </p:nvPr>
        </p:nvSpPr>
        <p:spPr>
          <a:xfrm>
            <a:off x="838200" y="365125"/>
            <a:ext cx="10515600" cy="447675"/>
          </a:xfrm>
          <a:solidFill>
            <a:schemeClr val="bg1"/>
          </a:solidFill>
        </p:spPr>
        <p:txBody>
          <a:bodyPr>
            <a:noAutofit/>
          </a:bodyPr>
          <a:lstStyle/>
          <a:p>
            <a:pPr algn="ctr"/>
            <a:r>
              <a:rPr lang="en-IN" sz="3200" b="1" dirty="0">
                <a:latin typeface="Times New Roman" panose="02020603050405020304" pitchFamily="18" charset="0"/>
                <a:cs typeface="Times New Roman" panose="02020603050405020304" pitchFamily="18" charset="0"/>
              </a:rPr>
              <a:t>Problem &amp; Objectives</a:t>
            </a:r>
          </a:p>
        </p:txBody>
      </p:sp>
      <p:sp>
        <p:nvSpPr>
          <p:cNvPr id="3" name="Content Placeholder 2">
            <a:extLst>
              <a:ext uri="{FF2B5EF4-FFF2-40B4-BE49-F238E27FC236}">
                <a16:creationId xmlns:a16="http://schemas.microsoft.com/office/drawing/2014/main" id="{1A64B721-FE62-DE79-132F-30A2E97EDB5E}"/>
              </a:ext>
            </a:extLst>
          </p:cNvPr>
          <p:cNvSpPr>
            <a:spLocks noGrp="1"/>
          </p:cNvSpPr>
          <p:nvPr>
            <p:ph idx="1"/>
          </p:nvPr>
        </p:nvSpPr>
        <p:spPr>
          <a:xfrm>
            <a:off x="528320" y="995680"/>
            <a:ext cx="11135360" cy="2560320"/>
          </a:xfrm>
          <a:noFill/>
          <a:ln>
            <a:solidFill>
              <a:schemeClr val="tx1"/>
            </a:solidFill>
          </a:ln>
        </p:spPr>
        <p:txBody>
          <a:bodyPr wrap="square">
            <a:normAutofit/>
          </a:body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Problem Statement</a:t>
            </a:r>
            <a:endParaRPr lang="en-US" sz="2200" b="1" dirty="0">
              <a:latin typeface="Times New Roman" panose="02020603050405020304" pitchFamily="18" charset="0"/>
              <a:cs typeface="Times New Roman" panose="02020603050405020304" pitchFamily="18" charset="0"/>
            </a:endParaRP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Merchants disengage silently — there is no cancellation event, only payment attempts that stop. By the time the drop shows up in a revenue report, the merchant is already gone.</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Standard churn models, including our base paper [1], learn from a static customer table: one row per customer, a churn label inherited with the dataset, and a random train/test split. That classifies a state which already exists — it does not forecast, and a random split on temporal data lets the model train on the future and test on the past.</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Affected: payment platforms and their retention teams, who need a ranked list of which merchants are leaving — and why — weeks before they go.</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Why it matters: only 4.0% of merchant-weeks are churn, so a model that always predicts “active” is 96.0% accurate and completely useless. The problem demands imbalance-aware metrics and per-merchant explanations.</a:t>
            </a:r>
          </a:p>
          <a:p>
            <a:pPr marL="0" indent="0" algn="l">
              <a:spcBef>
                <a:spcPts val="600"/>
              </a:spcBef>
              <a:buNone/>
            </a:pPr>
            <a:r>
              <a:rPr lang="en-US" sz="1100" i="1" dirty="0" b="0">
                <a:latin typeface="Times New Roman" panose="02020603050405020304" pitchFamily="18" charset="0"/>
                <a:cs typeface="Times New Roman" panose="02020603050405020304" pitchFamily="18" charset="0"/>
              </a:rPr>
              <a:t>Prerequisite solved first: retried HTTP requests that commit duplicate payment rows inflate the transaction-frequency features the model reads, so the ledger had to be made duplicate-free before any of this was measurable.</a:t>
            </a:r>
          </a:p>
        </p:txBody>
      </p:sp>
      <p:sp>
        <p:nvSpPr>
          <p:cNvPr id="8" name="Slide Number Placeholder 7">
            <a:extLst>
              <a:ext uri="{FF2B5EF4-FFF2-40B4-BE49-F238E27FC236}">
                <a16:creationId xmlns:a16="http://schemas.microsoft.com/office/drawing/2014/main" id="{523CDA66-B5BD-2386-BB8F-4912377972DA}"/>
              </a:ext>
            </a:extLst>
          </p:cNvPr>
          <p:cNvSpPr>
            <a:spLocks noGrp="1"/>
          </p:cNvSpPr>
          <p:nvPr>
            <p:ph type="sldNum" sz="quarter" idx="12"/>
          </p:nvPr>
        </p:nvSpPr>
        <p:spPr/>
        <p:txBody>
          <a:bodyPr/>
          <a:lstStyle/>
          <a:p>
            <a:fld id="{B4EE2AE5-9218-4A07-842F-E84162EAAD55}" type="slidenum">
              <a:rPr lang="en-IN" smtClean="0"/>
              <a:t>2</a:t>
            </a:fld>
            <a:endParaRPr lang="en-IN" dirty="0"/>
          </a:p>
        </p:txBody>
      </p:sp>
      <p:sp>
        <p:nvSpPr>
          <p:cNvPr id="11" name="Date Placeholder 10">
            <a:extLst>
              <a:ext uri="{FF2B5EF4-FFF2-40B4-BE49-F238E27FC236}">
                <a16:creationId xmlns:a16="http://schemas.microsoft.com/office/drawing/2014/main" id="{EA11D91B-4958-A12F-C19C-77C5B83B11DF}"/>
              </a:ext>
            </a:extLst>
          </p:cNvPr>
          <p:cNvSpPr>
            <a:spLocks noGrp="1"/>
          </p:cNvSpPr>
          <p:nvPr>
            <p:ph type="dt" sz="half" idx="10"/>
          </p:nvPr>
        </p:nvSpPr>
        <p:spPr/>
        <p:txBody>
          <a:bodyPr/>
          <a:lstStyle/>
          <a:p>
            <a:r>
              <a:rPr lang="en-US"/>
              <a:t>Date: 07/10/2026</a:t>
            </a:r>
            <a:endParaRPr lang="en-IN" dirty="0"/>
          </a:p>
        </p:txBody>
      </p:sp>
      <p:pic>
        <p:nvPicPr>
          <p:cNvPr id="5" name="Picture 4">
            <a:extLst>
              <a:ext uri="{FF2B5EF4-FFF2-40B4-BE49-F238E27FC236}">
                <a16:creationId xmlns:a16="http://schemas.microsoft.com/office/drawing/2014/main" id="{CFC1B7ED-4992-7EBC-5212-A1AE4793B193}"/>
              </a:ext>
            </a:extLst>
          </p:cNvPr>
          <p:cNvPicPr>
            <a:picLocks noChangeAspect="1"/>
          </p:cNvPicPr>
          <p:nvPr/>
        </p:nvPicPr>
        <p:blipFill>
          <a:blip r:embed="rId2"/>
          <a:srcRect l="2899" t="4596" r="67470" b="9539"/>
          <a:stretch>
            <a:fillRect/>
          </a:stretch>
        </p:blipFill>
        <p:spPr>
          <a:xfrm>
            <a:off x="10639226" y="87932"/>
            <a:ext cx="1429148" cy="907748"/>
          </a:xfrm>
          <a:prstGeom prst="rect">
            <a:avLst/>
          </a:prstGeom>
        </p:spPr>
      </p:pic>
      <p:sp>
        <p:nvSpPr>
          <p:cNvPr id="4" name="Footer Placeholder 17">
            <a:extLst>
              <a:ext uri="{FF2B5EF4-FFF2-40B4-BE49-F238E27FC236}">
                <a16:creationId xmlns:a16="http://schemas.microsoft.com/office/drawing/2014/main" id="{30690128-931D-A777-D1FD-90C08716F893}"/>
              </a:ext>
            </a:extLst>
          </p:cNvPr>
          <p:cNvSpPr>
            <a:spLocks noGrp="1"/>
          </p:cNvSpPr>
          <p:nvPr>
            <p:ph type="ftr" sz="quarter" idx="11"/>
          </p:nvPr>
        </p:nvSpPr>
        <p:spPr>
          <a:xfrm>
            <a:off x="4038600" y="6356350"/>
            <a:ext cx="4114800" cy="365125"/>
          </a:xfrm>
        </p:spPr>
        <p:txBody>
          <a:bodyPr/>
          <a:lstStyle/>
          <a:p>
            <a:r>
              <a:rPr lang="en-US" dirty="0"/>
              <a:t>II–Year PBL Project Final Review</a:t>
            </a:r>
            <a:endParaRPr lang="en-IN" dirty="0"/>
          </a:p>
        </p:txBody>
      </p:sp>
      <p:sp>
        <p:nvSpPr>
          <p:cNvPr id="6" name="Content Placeholder 2">
            <a:extLst>
              <a:ext uri="{FF2B5EF4-FFF2-40B4-BE49-F238E27FC236}">
                <a16:creationId xmlns:a16="http://schemas.microsoft.com/office/drawing/2014/main" id="{14CFBC3A-C6D9-950A-AAA8-D4DC8D77DE35}"/>
              </a:ext>
            </a:extLst>
          </p:cNvPr>
          <p:cNvSpPr txBox="1">
            <a:spLocks/>
          </p:cNvSpPr>
          <p:nvPr/>
        </p:nvSpPr>
        <p:spPr>
          <a:xfrm>
            <a:off x="528320" y="3611882"/>
            <a:ext cx="5431322" cy="2615184"/>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Objective</a:t>
            </a: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Reformulate churn as a forward-looking task: one row per merchant per week, a 90-day observation window, label = zero payment attempts in the next 60 days.</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Engineer 12 leakage-safe RFM and payment-reliability features, and prove the leakage rules with tests rather than assuming them.</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Train an XGBoost classifier under 4% class imbalance with scale_pos_weight, on chronological splits separated by purge gaps.</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Benchmark against a majority classifier, a recency-only rule and an RFM-only model, so any gain is measured against the simpler explanation.</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Explain every prediction with SHAP and serve it through a churn-risk endpoint.</a:t>
            </a:r>
          </a:p>
        </p:txBody>
      </p:sp>
      <p:sp>
        <p:nvSpPr>
          <p:cNvPr id="9" name="Content Placeholder 2">
            <a:extLst>
              <a:ext uri="{FF2B5EF4-FFF2-40B4-BE49-F238E27FC236}">
                <a16:creationId xmlns:a16="http://schemas.microsoft.com/office/drawing/2014/main" id="{264EE8C4-9DF8-3FF3-8179-F4A537F21798}"/>
              </a:ext>
            </a:extLst>
          </p:cNvPr>
          <p:cNvSpPr txBox="1">
            <a:spLocks/>
          </p:cNvSpPr>
          <p:nvPr/>
        </p:nvSpPr>
        <p:spPr>
          <a:xfrm>
            <a:off x="6232358" y="3611882"/>
            <a:ext cx="5431322" cy="2615184"/>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Expected Outcome</a:t>
            </a: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A leakage-safe, explainable merchant-churn model that beats a recency-only rule on PR-AUC and F1 under heavy class imbalance.</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Achieved — PR-AUC 0.289 and F1 0.346 on a test period scored once, against 0.240 / 0.315 for recency alone and a 0.040 positive-rate floor (7.2× the floor); ROC-AUC 0.895.</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A ranked retention list that arrives with its reasons: GET /merchants/{id}/churn-risk returns churn_score, risk band and the top SHAP factors with their direction.</a:t>
            </a:r>
            <a:endParaRPr lang="en-IN" sz="1600" dirty="0">
              <a:latin typeface="Times New Roman" panose="02020603050405020304" pitchFamily="18" charset="0"/>
              <a:cs typeface="Times New Roman" panose="02020603050405020304" pitchFamily="18" charset="0"/>
            </a:endParaRPr>
          </a:p>
          <a:p>
            <a:pPr marL="0" indent="0" algn="l">
              <a:spcBef>
                <a:spcPts val="600"/>
              </a:spcBef>
              <a:buNone/>
            </a:pPr>
            <a:r>
              <a:rPr lang="en-US" sz="1100" i="1" dirty="0" b="0">
                <a:latin typeface="Times New Roman" panose="02020603050405020304" pitchFamily="18" charset="0"/>
                <a:cs typeface="Times New Roman" panose="02020603050405020304" pitchFamily="18" charset="0"/>
              </a:rPr>
              <a:t>Supporting outcome: 50 concurrent duplicate requests commit exactly one payment row, which is what keeps the frequency features honest.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0474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419B9-8D2B-A5A3-F590-0BFB33841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FBA6E-00B3-FA77-124C-9ED96ECA46AF}"/>
              </a:ext>
            </a:extLst>
          </p:cNvPr>
          <p:cNvSpPr>
            <a:spLocks noGrp="1"/>
          </p:cNvSpPr>
          <p:nvPr>
            <p:ph type="title"/>
          </p:nvPr>
        </p:nvSpPr>
        <p:spPr>
          <a:xfrm>
            <a:off x="838200" y="365125"/>
            <a:ext cx="10515600" cy="447675"/>
          </a:xfrm>
          <a:solidFill>
            <a:schemeClr val="bg1"/>
          </a:solidFill>
        </p:spPr>
        <p:txBody>
          <a:bodyPr>
            <a:noAutofit/>
          </a:bodyPr>
          <a:lstStyle/>
          <a:p>
            <a:pPr algn="ctr"/>
            <a:r>
              <a:rPr lang="en-IN" sz="3200" b="1" dirty="0">
                <a:latin typeface="Times New Roman" panose="02020603050405020304" pitchFamily="18" charset="0"/>
                <a:cs typeface="Times New Roman" panose="02020603050405020304" pitchFamily="18" charset="0"/>
              </a:rPr>
              <a:t>Input, Analysis &amp; Insights</a:t>
            </a:r>
          </a:p>
        </p:txBody>
      </p:sp>
      <p:sp>
        <p:nvSpPr>
          <p:cNvPr id="8" name="Slide Number Placeholder 7">
            <a:extLst>
              <a:ext uri="{FF2B5EF4-FFF2-40B4-BE49-F238E27FC236}">
                <a16:creationId xmlns:a16="http://schemas.microsoft.com/office/drawing/2014/main" id="{25D538F8-98D7-48A3-27E2-29A0B682911F}"/>
              </a:ext>
            </a:extLst>
          </p:cNvPr>
          <p:cNvSpPr>
            <a:spLocks noGrp="1"/>
          </p:cNvSpPr>
          <p:nvPr>
            <p:ph type="sldNum" sz="quarter" idx="12"/>
          </p:nvPr>
        </p:nvSpPr>
        <p:spPr/>
        <p:txBody>
          <a:bodyPr/>
          <a:lstStyle/>
          <a:p>
            <a:fld id="{B4EE2AE5-9218-4A07-842F-E84162EAAD55}" type="slidenum">
              <a:rPr lang="en-IN" smtClean="0"/>
              <a:t>3</a:t>
            </a:fld>
            <a:endParaRPr lang="en-IN" dirty="0"/>
          </a:p>
        </p:txBody>
      </p:sp>
      <p:sp>
        <p:nvSpPr>
          <p:cNvPr id="11" name="Date Placeholder 10">
            <a:extLst>
              <a:ext uri="{FF2B5EF4-FFF2-40B4-BE49-F238E27FC236}">
                <a16:creationId xmlns:a16="http://schemas.microsoft.com/office/drawing/2014/main" id="{6A5BEA90-A627-443A-8EA9-207D3A67C942}"/>
              </a:ext>
            </a:extLst>
          </p:cNvPr>
          <p:cNvSpPr>
            <a:spLocks noGrp="1"/>
          </p:cNvSpPr>
          <p:nvPr>
            <p:ph type="dt" sz="half" idx="10"/>
          </p:nvPr>
        </p:nvSpPr>
        <p:spPr/>
        <p:txBody>
          <a:bodyPr/>
          <a:lstStyle/>
          <a:p>
            <a:r>
              <a:rPr lang="en-US"/>
              <a:t>Date: 07/10/2026</a:t>
            </a:r>
            <a:endParaRPr lang="en-IN" dirty="0"/>
          </a:p>
        </p:txBody>
      </p:sp>
      <p:pic>
        <p:nvPicPr>
          <p:cNvPr id="5" name="Picture 4">
            <a:extLst>
              <a:ext uri="{FF2B5EF4-FFF2-40B4-BE49-F238E27FC236}">
                <a16:creationId xmlns:a16="http://schemas.microsoft.com/office/drawing/2014/main" id="{7F0AD397-676F-684A-AD7C-D3C8687BC103}"/>
              </a:ext>
            </a:extLst>
          </p:cNvPr>
          <p:cNvPicPr>
            <a:picLocks noChangeAspect="1"/>
          </p:cNvPicPr>
          <p:nvPr/>
        </p:nvPicPr>
        <p:blipFill>
          <a:blip r:embed="rId2"/>
          <a:srcRect l="2899" t="4596" r="67470" b="9539"/>
          <a:stretch>
            <a:fillRect/>
          </a:stretch>
        </p:blipFill>
        <p:spPr>
          <a:xfrm>
            <a:off x="10639226" y="87932"/>
            <a:ext cx="1429148" cy="907748"/>
          </a:xfrm>
          <a:prstGeom prst="rect">
            <a:avLst/>
          </a:prstGeom>
        </p:spPr>
      </p:pic>
      <p:sp>
        <p:nvSpPr>
          <p:cNvPr id="4" name="Footer Placeholder 17">
            <a:extLst>
              <a:ext uri="{FF2B5EF4-FFF2-40B4-BE49-F238E27FC236}">
                <a16:creationId xmlns:a16="http://schemas.microsoft.com/office/drawing/2014/main" id="{8E569DF1-A45B-2F18-2C1D-E91C9F96E605}"/>
              </a:ext>
            </a:extLst>
          </p:cNvPr>
          <p:cNvSpPr>
            <a:spLocks noGrp="1"/>
          </p:cNvSpPr>
          <p:nvPr>
            <p:ph type="ftr" sz="quarter" idx="11"/>
          </p:nvPr>
        </p:nvSpPr>
        <p:spPr>
          <a:xfrm>
            <a:off x="4038600" y="6356350"/>
            <a:ext cx="4114800" cy="365125"/>
          </a:xfrm>
        </p:spPr>
        <p:txBody>
          <a:bodyPr/>
          <a:lstStyle/>
          <a:p>
            <a:r>
              <a:rPr lang="en-US" dirty="0"/>
              <a:t>II–Year PBL Project Final Review</a:t>
            </a:r>
            <a:endParaRPr lang="en-IN" dirty="0"/>
          </a:p>
        </p:txBody>
      </p:sp>
      <p:sp>
        <p:nvSpPr>
          <p:cNvPr id="6" name="Content Placeholder 2">
            <a:extLst>
              <a:ext uri="{FF2B5EF4-FFF2-40B4-BE49-F238E27FC236}">
                <a16:creationId xmlns:a16="http://schemas.microsoft.com/office/drawing/2014/main" id="{3F972567-383A-549B-CF00-1D76A4759ADD}"/>
              </a:ext>
            </a:extLst>
          </p:cNvPr>
          <p:cNvSpPr txBox="1">
            <a:spLocks/>
          </p:cNvSpPr>
          <p:nvPr/>
        </p:nvSpPr>
        <p:spPr>
          <a:xfrm>
            <a:off x="528320" y="995680"/>
            <a:ext cx="5431322" cy="2616202"/>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Input / Data Sources</a:t>
            </a:r>
          </a:p>
          <a:p>
            <a:pPr marL="171450" indent="-171450" algn="l">
              <a:spcBef>
                <a:spcPts val="0"/>
              </a:spcBef>
              <a:buFont typeface="Arial" pitchFamily="34" charset="0"/>
              <a:buChar char="•"/>
            </a:pPr>
            <a:r>
              <a:rPr lang="en-IN" sz="1300" i="0" dirty="0" b="0">
                <a:latin typeface="Times New Roman" panose="02020603050405020304" pitchFamily="18" charset="0"/>
                <a:cs typeface="Times New Roman" panose="02020603050405020304" pitchFamily="18" charset="0"/>
              </a:rPr>
              <a:t>Reproducible synthetic payment ledger — ml/synthetic/generate.py, fixed seed 42; no real merchant ledger was available.</a:t>
            </a:r>
            <a:endParaRPr lang="en-US" sz="1600" b="1" i="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2,000 merchants · 24 months (2024-06-30 → 2026-06-30) · 925,805 logical payments · 39,229 failed attempts (4.24%).</a:t>
            </a:r>
            <a:endParaRPr lang="en-US" sz="1600" b="1" i="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295 merchants (14.8%) churn, through gradual, abrupt and straggler disengagement modes, so the trajectories are not all alike.</a:t>
            </a:r>
            <a:endParaRPr lang="en-US" sz="1600" b="1" i="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Derived input: 116,464 eligible merchant × snapshot rows, 5,283 positive (4.54%); cadence 7 d, window 90 d, horizon 60 d.</a:t>
            </a:r>
            <a:endParaRPr lang="en-US" sz="1600" b="1" i="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12 features, all computed from ledger facts. industry is stored but withheld from the model — the generator assigns it, so it would be a shortcut.</a:t>
            </a:r>
            <a:endParaRPr lang="en-US" sz="1600" b="1" i="1"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3E7483B-4811-61DA-D7B7-E92B17337300}"/>
              </a:ext>
            </a:extLst>
          </p:cNvPr>
          <p:cNvSpPr txBox="1">
            <a:spLocks/>
          </p:cNvSpPr>
          <p:nvPr/>
        </p:nvSpPr>
        <p:spPr>
          <a:xfrm>
            <a:off x="6232358" y="995680"/>
            <a:ext cx="5431322" cy="274320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Analysis / Processing</a:t>
            </a:r>
          </a:p>
          <a:p>
            <a:pPr marL="171450" indent="-171450" algn="l">
              <a:spcBef>
                <a:spcPts val="0"/>
              </a:spcBef>
              <a:buFont typeface="Arial" pitchFamily="34" charset="0"/>
              <a:buChar char="•"/>
            </a:pPr>
            <a:r>
              <a:rPr lang="en-IN" sz="1300" i="0" dirty="0" b="0">
                <a:latin typeface="Times New Roman" panose="02020603050405020304" pitchFamily="18" charset="0"/>
                <a:cs typeface="Times New Roman" panose="02020603050405020304" pitchFamily="18" charset="0"/>
              </a:rPr>
              <a:t>Weekly snapshots: walk each merchant forward in 7-day steps; at snapshot t use only payments with created_at ≤ t over the preceding 90 days, and look into (t, t + 60 d] for the label alone.</a:t>
            </a: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Eligibility: tenure ≥ 90 d, a full 60 d of data after t, and ≥ 1 attempt in the prior 60 d — keeping the population to merchants who have not already obviously left. FAILED attempts count as activity, not absence.</a:t>
            </a: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Chronological split with 9-week purge gaps — train 55,001 / validation 16,860 / test 14,997 rows — so no training label window overlaps a later decision point. Positive rate stays stable at 4.1% / 5.3% / 4.0%.</a:t>
            </a: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Imbalance handled by scale_pos_weight = 23.36 (train negatives ÷ positives) rather than SMOTEENN: reweighting leaves the temporal structure untouched.</a:t>
            </a:r>
          </a:p>
          <a:p>
            <a:pPr marL="171450" indent="-171450" algn="l">
              <a:spcBef>
                <a:spcPts val="400"/>
              </a:spcBef>
              <a:buFont typeface="Arial" pitchFamily="34" charset="0"/>
              <a:buChar char="•"/>
            </a:pPr>
            <a:r>
              <a:rPr lang="en-IN" sz="1300" i="0" dirty="0" b="0">
                <a:latin typeface="Times New Roman" panose="02020603050405020304" pitchFamily="18" charset="0"/>
                <a:cs typeface="Times New Roman" panose="02020603050405020304" pitchFamily="18" charset="0"/>
              </a:rPr>
              <a:t>Threshold 0.84 chosen on validation for F1, then frozen; the test split was scored exactly once.</a:t>
            </a:r>
          </a:p>
        </p:txBody>
      </p:sp>
      <p:sp>
        <p:nvSpPr>
          <p:cNvPr id="13" name="Content Placeholder 2">
            <a:extLst>
              <a:ext uri="{FF2B5EF4-FFF2-40B4-BE49-F238E27FC236}">
                <a16:creationId xmlns:a16="http://schemas.microsoft.com/office/drawing/2014/main" id="{BDC3270D-AF1C-3E78-E712-FD035746225B}"/>
              </a:ext>
            </a:extLst>
          </p:cNvPr>
          <p:cNvSpPr txBox="1">
            <a:spLocks/>
          </p:cNvSpPr>
          <p:nvPr/>
        </p:nvSpPr>
        <p:spPr>
          <a:xfrm>
            <a:off x="528320" y="3740148"/>
            <a:ext cx="5431322" cy="256032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Key Insights</a:t>
            </a: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Recency alone is a strong baseline — 0.240 PR-AUC against a 0.040 floor. Any model has to beat “hasn’t paid in a while.”</a:t>
            </a:r>
            <a:endParaRPr lang="en-US" sz="1600" b="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Trajectory earns its place: RFM + tenure lifts PR-AUC to 0.275. frequency_change separates a merchant falling from 30 payments to 8 from one who always made 8 — same recency, different future.</a:t>
            </a:r>
            <a:endParaRPr lang="en-US" sz="1600" b="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SHAP ranks tx_count_30d above recency_days: the model reads how much activity remains, not merely how long ago the last payment was.</a:t>
            </a:r>
            <a:endParaRPr lang="en-US" sz="1600" b="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Reliability features add +0.014 PR-AUC, but the merchant-grouped bootstrap CI [−0.002, +0.031] spans zero — reported as unresolved, not as a win.</a:t>
            </a:r>
            <a:endParaRPr lang="en-US" sz="1600" b="1"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A leakage test caught recency measured over the uncut frame — a bug that would have improved every metric in the report.</a:t>
            </a:r>
            <a:endParaRPr lang="en-US" sz="1600" b="1" dirty="0">
              <a:latin typeface="Times New Roman" panose="02020603050405020304" pitchFamily="18" charset="0"/>
              <a:cs typeface="Times New Roman" panose="02020603050405020304" pitchFamily="18" charset="0"/>
            </a:endParaRPr>
          </a:p>
        </p:txBody>
      </p:sp>
      <p:pic>
        <p:nvPicPr>
          <p:cNvPr id="14" name="Picture 13" descr="fig_class_balance.png"/>
          <p:cNvPicPr>
            <a:picLocks noChangeAspect="1"/>
          </p:cNvPicPr>
          <p:nvPr/>
        </p:nvPicPr>
        <p:blipFill>
          <a:blip r:embed="rId3"/>
          <a:stretch>
            <a:fillRect/>
          </a:stretch>
        </p:blipFill>
        <p:spPr>
          <a:xfrm>
            <a:off x="6752837" y="3794760"/>
            <a:ext cx="4398277" cy="2468880"/>
          </a:xfrm>
          <a:prstGeom prst="rect">
            <a:avLst/>
          </a:prstGeom>
        </p:spPr>
      </p:pic>
      <p:sp>
        <p:nvSpPr>
          <p:cNvPr id="15" name="TextBox 14"/>
          <p:cNvSpPr txBox="1"/>
          <p:nvPr/>
        </p:nvSpPr>
        <p:spPr>
          <a:xfrm>
            <a:off x="6236208" y="6272784"/>
            <a:ext cx="5431536" cy="182880"/>
          </a:xfrm>
          <a:prstGeom prst="rect">
            <a:avLst/>
          </a:prstGeom>
          <a:noFill/>
        </p:spPr>
        <p:txBody>
          <a:bodyPr wrap="square" lIns="0" rIns="0" tIns="0" bIns="0">
            <a:spAutoFit/>
          </a:bodyPr>
          <a:lstStyle/>
          <a:p>
            <a:pPr algn="ctr"/>
            <a:r>
              <a:rPr sz="1000" i="1">
                <a:latin typeface="Times New Roman"/>
              </a:rPr>
              <a:t>Class balance across the chronological splits — train / validation / test</a:t>
            </a:r>
          </a:p>
        </p:txBody>
      </p:sp>
    </p:spTree>
    <p:extLst>
      <p:ext uri="{BB962C8B-B14F-4D97-AF65-F5344CB8AC3E}">
        <p14:creationId xmlns:p14="http://schemas.microsoft.com/office/powerpoint/2010/main" val="3362102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15378-57A1-BD2B-6825-39104D9E9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36032-DF0E-254C-0CD8-AB6E66698372}"/>
              </a:ext>
            </a:extLst>
          </p:cNvPr>
          <p:cNvSpPr>
            <a:spLocks noGrp="1"/>
          </p:cNvSpPr>
          <p:nvPr>
            <p:ph type="title"/>
          </p:nvPr>
        </p:nvSpPr>
        <p:spPr>
          <a:xfrm>
            <a:off x="838200" y="365125"/>
            <a:ext cx="10515600" cy="447675"/>
          </a:xfrm>
          <a:solidFill>
            <a:schemeClr val="bg1"/>
          </a:solidFill>
        </p:spPr>
        <p:txBody>
          <a:bodyPr>
            <a:noAutofit/>
          </a:bodyPr>
          <a:lstStyle/>
          <a:p>
            <a:pPr algn="ct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Technical Approach</a:t>
            </a:r>
          </a:p>
        </p:txBody>
      </p:sp>
      <p:sp>
        <p:nvSpPr>
          <p:cNvPr id="8" name="Slide Number Placeholder 7">
            <a:extLst>
              <a:ext uri="{FF2B5EF4-FFF2-40B4-BE49-F238E27FC236}">
                <a16:creationId xmlns:a16="http://schemas.microsoft.com/office/drawing/2014/main" id="{D518352F-9C19-CF1E-1D03-4BACF46A8EC0}"/>
              </a:ext>
            </a:extLst>
          </p:cNvPr>
          <p:cNvSpPr>
            <a:spLocks noGrp="1"/>
          </p:cNvSpPr>
          <p:nvPr>
            <p:ph type="sldNum" sz="quarter" idx="12"/>
          </p:nvPr>
        </p:nvSpPr>
        <p:spPr/>
        <p:txBody>
          <a:bodyPr/>
          <a:lstStyle/>
          <a:p>
            <a:fld id="{B4EE2AE5-9218-4A07-842F-E84162EAAD55}" type="slidenum">
              <a:rPr lang="en-IN" smtClean="0"/>
              <a:t>4</a:t>
            </a:fld>
            <a:endParaRPr lang="en-IN" dirty="0"/>
          </a:p>
        </p:txBody>
      </p:sp>
      <p:sp>
        <p:nvSpPr>
          <p:cNvPr id="6" name="Date Placeholder 5">
            <a:extLst>
              <a:ext uri="{FF2B5EF4-FFF2-40B4-BE49-F238E27FC236}">
                <a16:creationId xmlns:a16="http://schemas.microsoft.com/office/drawing/2014/main" id="{5B39290C-FF8D-37DE-61F5-B382DBC8013E}"/>
              </a:ext>
            </a:extLst>
          </p:cNvPr>
          <p:cNvSpPr>
            <a:spLocks noGrp="1"/>
          </p:cNvSpPr>
          <p:nvPr>
            <p:ph type="dt" sz="half" idx="10"/>
          </p:nvPr>
        </p:nvSpPr>
        <p:spPr/>
        <p:txBody>
          <a:bodyPr/>
          <a:lstStyle/>
          <a:p>
            <a:r>
              <a:rPr lang="en-US"/>
              <a:t>Date: 07/10/2026</a:t>
            </a:r>
            <a:endParaRPr lang="en-IN" dirty="0"/>
          </a:p>
        </p:txBody>
      </p:sp>
      <p:pic>
        <p:nvPicPr>
          <p:cNvPr id="9" name="Picture 8">
            <a:extLst>
              <a:ext uri="{FF2B5EF4-FFF2-40B4-BE49-F238E27FC236}">
                <a16:creationId xmlns:a16="http://schemas.microsoft.com/office/drawing/2014/main" id="{1A9A8F1E-B41B-EFBC-9FA3-324946ED4AFA}"/>
              </a:ext>
            </a:extLst>
          </p:cNvPr>
          <p:cNvPicPr>
            <a:picLocks noChangeAspect="1"/>
          </p:cNvPicPr>
          <p:nvPr/>
        </p:nvPicPr>
        <p:blipFill>
          <a:blip r:embed="rId3"/>
          <a:srcRect l="2899" t="4596" r="67470" b="9539"/>
          <a:stretch>
            <a:fillRect/>
          </a:stretch>
        </p:blipFill>
        <p:spPr>
          <a:xfrm>
            <a:off x="10639226" y="87932"/>
            <a:ext cx="1429148" cy="907748"/>
          </a:xfrm>
          <a:prstGeom prst="rect">
            <a:avLst/>
          </a:prstGeom>
        </p:spPr>
      </p:pic>
      <p:sp>
        <p:nvSpPr>
          <p:cNvPr id="10" name="Footer Placeholder 17">
            <a:extLst>
              <a:ext uri="{FF2B5EF4-FFF2-40B4-BE49-F238E27FC236}">
                <a16:creationId xmlns:a16="http://schemas.microsoft.com/office/drawing/2014/main" id="{20C423C8-65A4-300E-51C7-B4952EDE1E82}"/>
              </a:ext>
            </a:extLst>
          </p:cNvPr>
          <p:cNvSpPr>
            <a:spLocks noGrp="1"/>
          </p:cNvSpPr>
          <p:nvPr>
            <p:ph type="ftr" sz="quarter" idx="11"/>
          </p:nvPr>
        </p:nvSpPr>
        <p:spPr>
          <a:xfrm>
            <a:off x="4038600" y="6356350"/>
            <a:ext cx="4114800" cy="365125"/>
          </a:xfrm>
        </p:spPr>
        <p:txBody>
          <a:bodyPr/>
          <a:lstStyle/>
          <a:p>
            <a:r>
              <a:rPr lang="en-US" dirty="0"/>
              <a:t>II–Year PBL Project Final Review</a:t>
            </a:r>
            <a:endParaRPr lang="en-IN" dirty="0"/>
          </a:p>
        </p:txBody>
      </p:sp>
      <p:sp>
        <p:nvSpPr>
          <p:cNvPr id="11" name="Content Placeholder 2">
            <a:extLst>
              <a:ext uri="{FF2B5EF4-FFF2-40B4-BE49-F238E27FC236}">
                <a16:creationId xmlns:a16="http://schemas.microsoft.com/office/drawing/2014/main" id="{265AD724-9C99-5D2A-C540-18B286306A28}"/>
              </a:ext>
            </a:extLst>
          </p:cNvPr>
          <p:cNvSpPr txBox="1">
            <a:spLocks/>
          </p:cNvSpPr>
          <p:nvPr/>
        </p:nvSpPr>
        <p:spPr>
          <a:xfrm>
            <a:off x="528320" y="914400"/>
            <a:ext cx="5431322" cy="86868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Architecture</a:t>
            </a:r>
          </a:p>
          <a:p>
            <a:pPr marL="171450" indent="-171450" algn="l">
              <a:spcBef>
                <a:spcPts val="0"/>
              </a:spcBef>
              <a:buFont typeface="Arial" pitchFamily="34" charset="0"/>
              <a:buChar char="•"/>
            </a:pPr>
            <a:r>
              <a:rPr lang="en-US" sz="1200" i="0" dirty="0" b="0">
                <a:latin typeface="Times New Roman" panose="02020603050405020304" pitchFamily="18" charset="0"/>
                <a:cs typeface="Times New Roman" panose="02020603050405020304" pitchFamily="18" charset="0"/>
              </a:rPr>
              <a:t>Nginx → 3 stateless FastAPI workers → Redis coordination + PostgreSQL ledger. The offline ML path (feature generation → XGBoost → SHAP) runs outside the request path and feeds the churn-risk API.</a:t>
            </a:r>
            <a:endParaRPr lang="en-US" sz="1600" b="1"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E6FB5461-00D8-24D8-D0A0-BD98F40612EA}"/>
              </a:ext>
            </a:extLst>
          </p:cNvPr>
          <p:cNvSpPr txBox="1">
            <a:spLocks/>
          </p:cNvSpPr>
          <p:nvPr/>
        </p:nvSpPr>
        <p:spPr>
          <a:xfrm>
            <a:off x="6232358" y="914400"/>
            <a:ext cx="5431322" cy="233172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ML Methodology and Implementation Process</a:t>
            </a:r>
          </a:p>
          <a:p>
            <a:pPr marL="171450" indent="-171450" algn="l">
              <a:spcBef>
                <a:spcPts val="0"/>
              </a:spcBef>
              <a:buFont typeface="Arial" pitchFamily="34" charset="0"/>
              <a:buChar char="•"/>
            </a:pPr>
            <a:r>
              <a:rPr lang="en-US" sz="1200" i="0" dirty="0" b="0">
                <a:latin typeface="Times New Roman" panose="02020603050405020304" pitchFamily="18" charset="0"/>
                <a:cs typeface="Times New Roman" panose="02020603050405020304" pitchFamily="18" charset="0"/>
              </a:rPr>
              <a:t>Pipeline: generate ledger → build merchant × snapshot features → chronological split with purge gaps → train XGBoost (scale_pos_weight 23.36) → freeze the threshold on validation → score the test split once → SHAP → serve GET /merchants/{id}/churn-risk.</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200" i="0" dirty="0" b="0">
                <a:latin typeface="Times New Roman" panose="02020603050405020304" pitchFamily="18" charset="0"/>
                <a:cs typeface="Times New Roman" panose="02020603050405020304" pitchFamily="18" charset="0"/>
              </a:rPr>
              <a:t>Model D (selected): max_depth 3, learning_rate 0.05, n_estimators 300, min_child_weight 1, subsample 0.8, colsample_bytree 0.8, reg_lambda 1, reg_alpha 0.</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200" i="0" dirty="0" b="0">
                <a:latin typeface="Times New Roman" panose="02020603050405020304" pitchFamily="18" charset="0"/>
                <a:cs typeface="Times New Roman" panose="02020603050405020304" pitchFamily="18" charset="0"/>
              </a:rPr>
              <a:t>Leakage control is the method, not a detail: features see created_at ≤ t only; the label alone may read (t, t + 60 d]; five tests enforce it.</a:t>
            </a:r>
            <a:endParaRPr lang="en-IN" sz="1600" dirty="0">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C42911C6-4047-D019-EA7D-28985C058142}"/>
              </a:ext>
            </a:extLst>
          </p:cNvPr>
          <p:cNvSpPr txBox="1">
            <a:spLocks/>
          </p:cNvSpPr>
          <p:nvPr/>
        </p:nvSpPr>
        <p:spPr>
          <a:xfrm>
            <a:off x="528320" y="5303520"/>
            <a:ext cx="5431322" cy="105156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600" b="1" dirty="0" i="0">
                <a:latin typeface="Times New Roman" panose="02020603050405020304" pitchFamily="18" charset="0"/>
                <a:cs typeface="Times New Roman" panose="02020603050405020304" pitchFamily="18" charset="0"/>
              </a:rPr>
              <a:t>Technology Stack</a:t>
            </a:r>
          </a:p>
          <a:p>
            <a:pPr marL="171450" indent="-171450" algn="l">
              <a:spcBef>
                <a:spcPts val="0"/>
              </a:spcBef>
              <a:buFont typeface="Arial" pitchFamily="34" charset="0"/>
              <a:buChar char="•"/>
            </a:pPr>
            <a:r>
              <a:rPr lang="en-US" sz="1200" i="0" dirty="0" b="0">
                <a:latin typeface="Times New Roman" panose="02020603050405020304" pitchFamily="18" charset="0"/>
                <a:cs typeface="Times New Roman" panose="02020603050405020304" pitchFamily="18" charset="0"/>
              </a:rPr>
              <a:t>ML: Python 3.12, XGBoost, SHAP, scikit-learn, pandas, NumPy</a:t>
            </a:r>
          </a:p>
          <a:p>
            <a:pPr marL="171450" indent="-171450" algn="l">
              <a:spcBef>
                <a:spcPts val="400"/>
              </a:spcBef>
              <a:buFont typeface="Arial" pitchFamily="34" charset="0"/>
              <a:buChar char="•"/>
            </a:pPr>
            <a:r>
              <a:rPr lang="en-US" sz="1200" i="0" dirty="0" b="0">
                <a:latin typeface="Times New Roman" panose="02020603050405020304" pitchFamily="18" charset="0"/>
                <a:cs typeface="Times New Roman" panose="02020603050405020304" pitchFamily="18" charset="0"/>
              </a:rPr>
              <a:t>Serving: FastAPI, Pydantic v2, SQLAlchemy 2.x (async), Uvicorn</a:t>
            </a:r>
          </a:p>
          <a:p>
            <a:pPr marL="171450" indent="-171450" algn="l">
              <a:spcBef>
                <a:spcPts val="400"/>
              </a:spcBef>
              <a:buFont typeface="Arial" pitchFamily="34" charset="0"/>
              <a:buChar char="•"/>
            </a:pPr>
            <a:r>
              <a:rPr lang="en-US" sz="1200" i="0" dirty="0" b="0">
                <a:latin typeface="Times New Roman" panose="02020603050405020304" pitchFamily="18" charset="0"/>
                <a:cs typeface="Times New Roman" panose="02020603050405020304" pitchFamily="18" charset="0"/>
              </a:rPr>
              <a:t>Infra: PostgreSQL 16, Redis 7, Nginx, Docker Compose, Alembic</a:t>
            </a:r>
          </a:p>
          <a:p>
            <a:pPr marL="171450" indent="-171450" algn="l">
              <a:spcBef>
                <a:spcPts val="400"/>
              </a:spcBef>
              <a:buFont typeface="Arial" pitchFamily="34" charset="0"/>
              <a:buChar char="•"/>
            </a:pPr>
            <a:r>
              <a:rPr lang="en-US" sz="1200" i="0" dirty="0" b="0">
                <a:latin typeface="Times New Roman" panose="02020603050405020304" pitchFamily="18" charset="0"/>
                <a:cs typeface="Times New Roman" panose="02020603050405020304" pitchFamily="18" charset="0"/>
              </a:rPr>
              <a:t>Testing: pytest, pytest-asyncio, httpx; Parquet model artifacts</a:t>
            </a:r>
          </a:p>
        </p:txBody>
      </p:sp>
      <p:pic>
        <p:nvPicPr>
          <p:cNvPr id="18" name="Picture 17" descr="fig_architecture.png"/>
          <p:cNvPicPr>
            <a:picLocks noChangeAspect="1"/>
          </p:cNvPicPr>
          <p:nvPr/>
        </p:nvPicPr>
        <p:blipFill>
          <a:blip r:embed="rId4"/>
          <a:stretch>
            <a:fillRect/>
          </a:stretch>
        </p:blipFill>
        <p:spPr>
          <a:xfrm>
            <a:off x="1755116" y="1810512"/>
            <a:ext cx="2982007" cy="3200400"/>
          </a:xfrm>
          <a:prstGeom prst="rect">
            <a:avLst/>
          </a:prstGeom>
        </p:spPr>
      </p:pic>
      <p:sp>
        <p:nvSpPr>
          <p:cNvPr id="19" name="TextBox 18"/>
          <p:cNvSpPr txBox="1"/>
          <p:nvPr/>
        </p:nvSpPr>
        <p:spPr>
          <a:xfrm>
            <a:off x="530352" y="5029200"/>
            <a:ext cx="5431536" cy="182880"/>
          </a:xfrm>
          <a:prstGeom prst="rect">
            <a:avLst/>
          </a:prstGeom>
          <a:noFill/>
        </p:spPr>
        <p:txBody>
          <a:bodyPr wrap="square" lIns="0" rIns="0" tIns="0" bIns="0">
            <a:spAutoFit/>
          </a:bodyPr>
          <a:lstStyle/>
          <a:p>
            <a:pPr algn="ctr"/>
            <a:r>
              <a:rPr sz="1000" i="1">
                <a:latin typeface="Times New Roman"/>
              </a:rPr>
              <a:t>Figure 4.1 — Target system architecture of vault-api</a:t>
            </a:r>
          </a:p>
        </p:txBody>
      </p:sp>
      <p:pic>
        <p:nvPicPr>
          <p:cNvPr id="20" name="Picture 19" descr="fig_temporal.png"/>
          <p:cNvPicPr>
            <a:picLocks noChangeAspect="1"/>
          </p:cNvPicPr>
          <p:nvPr/>
        </p:nvPicPr>
        <p:blipFill>
          <a:blip r:embed="rId5"/>
          <a:stretch>
            <a:fillRect/>
          </a:stretch>
        </p:blipFill>
        <p:spPr>
          <a:xfrm>
            <a:off x="6515036" y="3273552"/>
            <a:ext cx="4873878" cy="2788920"/>
          </a:xfrm>
          <a:prstGeom prst="rect">
            <a:avLst/>
          </a:prstGeom>
        </p:spPr>
      </p:pic>
      <p:sp>
        <p:nvSpPr>
          <p:cNvPr id="21" name="TextBox 20"/>
          <p:cNvSpPr txBox="1"/>
          <p:nvPr/>
        </p:nvSpPr>
        <p:spPr>
          <a:xfrm>
            <a:off x="6236208" y="6089904"/>
            <a:ext cx="5431536" cy="274320"/>
          </a:xfrm>
          <a:prstGeom prst="rect">
            <a:avLst/>
          </a:prstGeom>
          <a:noFill/>
        </p:spPr>
        <p:txBody>
          <a:bodyPr wrap="square" lIns="0" rIns="0" tIns="0" bIns="0">
            <a:spAutoFit/>
          </a:bodyPr>
          <a:lstStyle/>
          <a:p>
            <a:pPr algn="ctr"/>
            <a:r>
              <a:rPr sz="1000" i="1">
                <a:latin typeface="Times New Roman"/>
              </a:rPr>
              <a:t>Figure 4.4 — Temporal formulation on one merchant timeline: 90-day window, 60-day forward label, weekly cadence</a:t>
            </a:r>
          </a:p>
        </p:txBody>
      </p:sp>
    </p:spTree>
    <p:extLst>
      <p:ext uri="{BB962C8B-B14F-4D97-AF65-F5344CB8AC3E}">
        <p14:creationId xmlns:p14="http://schemas.microsoft.com/office/powerpoint/2010/main" val="1688179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618C8-1A4F-EFB9-CA30-299146157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40AA7-ACBA-6CC8-C67C-FB16D1F50441}"/>
              </a:ext>
            </a:extLst>
          </p:cNvPr>
          <p:cNvSpPr>
            <a:spLocks noGrp="1"/>
          </p:cNvSpPr>
          <p:nvPr>
            <p:ph type="title"/>
          </p:nvPr>
        </p:nvSpPr>
        <p:spPr>
          <a:xfrm>
            <a:off x="838200" y="365125"/>
            <a:ext cx="10515600" cy="447675"/>
          </a:xfrm>
          <a:solidFill>
            <a:schemeClr val="bg1"/>
          </a:solidFill>
        </p:spPr>
        <p:txBody>
          <a:bodyPr>
            <a:noAutofit/>
          </a:bodyPr>
          <a:lstStyle/>
          <a:p>
            <a:pPr algn="ct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Feasibility, Risk and Challenges</a:t>
            </a:r>
          </a:p>
        </p:txBody>
      </p:sp>
      <p:sp>
        <p:nvSpPr>
          <p:cNvPr id="8" name="Slide Number Placeholder 7">
            <a:extLst>
              <a:ext uri="{FF2B5EF4-FFF2-40B4-BE49-F238E27FC236}">
                <a16:creationId xmlns:a16="http://schemas.microsoft.com/office/drawing/2014/main" id="{C1E70550-5F49-E002-6AE3-6E645A7FBE82}"/>
              </a:ext>
            </a:extLst>
          </p:cNvPr>
          <p:cNvSpPr>
            <a:spLocks noGrp="1"/>
          </p:cNvSpPr>
          <p:nvPr>
            <p:ph type="sldNum" sz="quarter" idx="12"/>
          </p:nvPr>
        </p:nvSpPr>
        <p:spPr/>
        <p:txBody>
          <a:bodyPr/>
          <a:lstStyle/>
          <a:p>
            <a:fld id="{B4EE2AE5-9218-4A07-842F-E84162EAAD55}" type="slidenum">
              <a:rPr lang="en-IN" smtClean="0"/>
              <a:t>5</a:t>
            </a:fld>
            <a:endParaRPr lang="en-IN" dirty="0"/>
          </a:p>
        </p:txBody>
      </p:sp>
      <p:sp>
        <p:nvSpPr>
          <p:cNvPr id="4" name="Date Placeholder 3">
            <a:extLst>
              <a:ext uri="{FF2B5EF4-FFF2-40B4-BE49-F238E27FC236}">
                <a16:creationId xmlns:a16="http://schemas.microsoft.com/office/drawing/2014/main" id="{6ED383AF-943A-AF13-9532-2E72477633B9}"/>
              </a:ext>
            </a:extLst>
          </p:cNvPr>
          <p:cNvSpPr>
            <a:spLocks noGrp="1"/>
          </p:cNvSpPr>
          <p:nvPr>
            <p:ph type="dt" sz="half" idx="10"/>
          </p:nvPr>
        </p:nvSpPr>
        <p:spPr/>
        <p:txBody>
          <a:bodyPr/>
          <a:lstStyle/>
          <a:p>
            <a:r>
              <a:rPr lang="en-US"/>
              <a:t>Date: 07/10/2026</a:t>
            </a:r>
            <a:endParaRPr lang="en-IN" dirty="0"/>
          </a:p>
        </p:txBody>
      </p:sp>
      <p:pic>
        <p:nvPicPr>
          <p:cNvPr id="9" name="Picture 8">
            <a:extLst>
              <a:ext uri="{FF2B5EF4-FFF2-40B4-BE49-F238E27FC236}">
                <a16:creationId xmlns:a16="http://schemas.microsoft.com/office/drawing/2014/main" id="{1CF922E5-3869-BACF-D57D-A6E439B7C486}"/>
              </a:ext>
            </a:extLst>
          </p:cNvPr>
          <p:cNvPicPr>
            <a:picLocks noChangeAspect="1"/>
          </p:cNvPicPr>
          <p:nvPr/>
        </p:nvPicPr>
        <p:blipFill>
          <a:blip r:embed="rId2"/>
          <a:srcRect l="2899" t="4596" r="67470" b="9539"/>
          <a:stretch>
            <a:fillRect/>
          </a:stretch>
        </p:blipFill>
        <p:spPr>
          <a:xfrm>
            <a:off x="10639226" y="87932"/>
            <a:ext cx="1429148" cy="907748"/>
          </a:xfrm>
          <a:prstGeom prst="rect">
            <a:avLst/>
          </a:prstGeom>
        </p:spPr>
      </p:pic>
      <p:sp>
        <p:nvSpPr>
          <p:cNvPr id="10" name="Footer Placeholder 17">
            <a:extLst>
              <a:ext uri="{FF2B5EF4-FFF2-40B4-BE49-F238E27FC236}">
                <a16:creationId xmlns:a16="http://schemas.microsoft.com/office/drawing/2014/main" id="{6DD06387-97D0-39D2-34A2-A189B9C8755D}"/>
              </a:ext>
            </a:extLst>
          </p:cNvPr>
          <p:cNvSpPr>
            <a:spLocks noGrp="1"/>
          </p:cNvSpPr>
          <p:nvPr>
            <p:ph type="ftr" sz="quarter" idx="11"/>
          </p:nvPr>
        </p:nvSpPr>
        <p:spPr>
          <a:xfrm>
            <a:off x="4038600" y="6356350"/>
            <a:ext cx="4114800" cy="365125"/>
          </a:xfrm>
        </p:spPr>
        <p:txBody>
          <a:bodyPr/>
          <a:lstStyle/>
          <a:p>
            <a:r>
              <a:rPr lang="en-US" dirty="0"/>
              <a:t>II–Year PBL Project Final Review</a:t>
            </a:r>
            <a:endParaRPr lang="en-IN" dirty="0"/>
          </a:p>
        </p:txBody>
      </p:sp>
      <p:sp>
        <p:nvSpPr>
          <p:cNvPr id="11" name="Content Placeholder 2">
            <a:extLst>
              <a:ext uri="{FF2B5EF4-FFF2-40B4-BE49-F238E27FC236}">
                <a16:creationId xmlns:a16="http://schemas.microsoft.com/office/drawing/2014/main" id="{A1C04632-2C25-41CF-16BF-7E21BD7B277A}"/>
              </a:ext>
            </a:extLst>
          </p:cNvPr>
          <p:cNvSpPr txBox="1">
            <a:spLocks/>
          </p:cNvSpPr>
          <p:nvPr/>
        </p:nvSpPr>
        <p:spPr>
          <a:xfrm>
            <a:off x="528320" y="995680"/>
            <a:ext cx="5431322" cy="228600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Feasibility</a:t>
            </a:r>
          </a:p>
          <a:p>
            <a:pPr algn="l" marL="171450" indent="-171450">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No paid API, no cloud account and no dataset-access delay — the whole ledger regenerates from seed 42 in minutes.</a:t>
            </a:r>
          </a:p>
          <a:p>
            <a:pPr algn="l" marL="171450" indent="-171450">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116,464 × 12 tabular rows train with XGBoost in minutes on an 8 GB laptop CPU; no GPU is required anywhere in the pipeline.</a:t>
            </a:r>
          </a:p>
          <a:p>
            <a:pPr algn="l" marL="171450" indent="-171450">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The full stack — Nginx, three API workers, PostgreSQL and Redis — comes up from one docker-compose.yml on a single machine.</a:t>
            </a:r>
          </a:p>
          <a:p>
            <a:pPr algn="l" marL="171450" indent="-171450">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Reproducible by construction: xgboost_model.json plus model_metadata.json pin the feature order, window, horizon and frozen threshold.</a:t>
            </a:r>
          </a:p>
        </p:txBody>
      </p:sp>
      <p:sp>
        <p:nvSpPr>
          <p:cNvPr id="13" name="Content Placeholder 2">
            <a:extLst>
              <a:ext uri="{FF2B5EF4-FFF2-40B4-BE49-F238E27FC236}">
                <a16:creationId xmlns:a16="http://schemas.microsoft.com/office/drawing/2014/main" id="{B287D6E2-D2A8-8A09-D852-F8844378CEC8}"/>
              </a:ext>
            </a:extLst>
          </p:cNvPr>
          <p:cNvSpPr txBox="1">
            <a:spLocks/>
          </p:cNvSpPr>
          <p:nvPr/>
        </p:nvSpPr>
        <p:spPr>
          <a:xfrm>
            <a:off x="6232358" y="995680"/>
            <a:ext cx="5431322" cy="416052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Risk and Challenges</a:t>
            </a: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Label leakage — the largest ML risk, and one we hit. recency_days was first computed over the merchant’s whole history, so for exactly the merchants about to churn it read the future. It would have raised every score, and no metric would have revealed it.</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Severe class imbalance — 4.0% positives, so accuracy is meaningless and ROC-AUC is visually optimistic with 14,391 negatives against 606 positives.</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A trivially easy problem — our first generator produced data a recency threshold almost solved; a synthetic world can be accidentally separable.</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Temporal structure — a shuffled split would place a merchant’s later snapshots in training and its earlier ones in test.</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Unresolved effect size — the +0.014 PR-AUC from reliability features sits inside bootstrap noise at a single generator seed.</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Uncalibrated output — churn_score orders merchants; it is not a probability.</a:t>
            </a:r>
            <a:endParaRPr lang="en-IN" sz="16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Duplicate behavioural events — retried requests inflate transaction counts and corrupt the frequency features at source.</a:t>
            </a:r>
            <a:endParaRPr lang="en-IN" sz="1600" dirty="0">
              <a:latin typeface="Times New Roman" panose="02020603050405020304" pitchFamily="18" charset="0"/>
              <a:cs typeface="Times New Roman" panose="02020603050405020304" pitchFamily="18" charset="0"/>
            </a:endParaRPr>
          </a:p>
        </p:txBody>
      </p:sp>
      <p:sp>
        <p:nvSpPr>
          <p:cNvPr id="15" name="Content Placeholder 2">
            <a:extLst>
              <a:ext uri="{FF2B5EF4-FFF2-40B4-BE49-F238E27FC236}">
                <a16:creationId xmlns:a16="http://schemas.microsoft.com/office/drawing/2014/main" id="{4BEEC87A-A354-40E4-44C7-0E984250BF0A}"/>
              </a:ext>
            </a:extLst>
          </p:cNvPr>
          <p:cNvSpPr txBox="1">
            <a:spLocks/>
          </p:cNvSpPr>
          <p:nvPr/>
        </p:nvSpPr>
        <p:spPr>
          <a:xfrm>
            <a:off x="528320" y="3429000"/>
            <a:ext cx="5431322" cy="283464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Mitigation</a:t>
            </a: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Five leakage tests, including the blunt one that caught the bug: insert a payment strictly after t and assert that no feature value changes.</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scale_pos_weight instead of SMOTEENN, PR-AUC as the headline metric, and accuracy not reported at all.</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Chronological splits with 9-week purge gaps, threshold frozen on validation, test split scored exactly once.</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A four-model ladder (A–D) plus a merchant-grouped bootstrap, so a small gain is published with its confidence interval rather than as a headline.</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Duplicates stopped at the database: a unique (merchant_id, idempotency_key) constraint is the authority, with Redis as coordination only.</a:t>
            </a:r>
          </a:p>
        </p:txBody>
      </p:sp>
    </p:spTree>
    <p:extLst>
      <p:ext uri="{BB962C8B-B14F-4D97-AF65-F5344CB8AC3E}">
        <p14:creationId xmlns:p14="http://schemas.microsoft.com/office/powerpoint/2010/main" val="893038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B97E5-D400-46AE-AE05-98F3D3664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03512-77FF-BCD5-5958-FBFA0FD121AA}"/>
              </a:ext>
            </a:extLst>
          </p:cNvPr>
          <p:cNvSpPr>
            <a:spLocks noGrp="1"/>
          </p:cNvSpPr>
          <p:nvPr>
            <p:ph type="title"/>
          </p:nvPr>
        </p:nvSpPr>
        <p:spPr>
          <a:xfrm>
            <a:off x="838200" y="365125"/>
            <a:ext cx="10515600" cy="447675"/>
          </a:xfrm>
          <a:solidFill>
            <a:schemeClr val="bg1"/>
          </a:solidFill>
        </p:spPr>
        <p:txBody>
          <a:bodyPr>
            <a:noAutofit/>
          </a:bodyPr>
          <a:lstStyle/>
          <a:p>
            <a:pPr algn="ct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Result and Applications </a:t>
            </a:r>
          </a:p>
        </p:txBody>
      </p:sp>
      <p:sp>
        <p:nvSpPr>
          <p:cNvPr id="8" name="Slide Number Placeholder 7">
            <a:extLst>
              <a:ext uri="{FF2B5EF4-FFF2-40B4-BE49-F238E27FC236}">
                <a16:creationId xmlns:a16="http://schemas.microsoft.com/office/drawing/2014/main" id="{67D2D4A5-60AA-677E-EC4C-E20C7280E1D6}"/>
              </a:ext>
            </a:extLst>
          </p:cNvPr>
          <p:cNvSpPr>
            <a:spLocks noGrp="1"/>
          </p:cNvSpPr>
          <p:nvPr>
            <p:ph type="sldNum" sz="quarter" idx="12"/>
          </p:nvPr>
        </p:nvSpPr>
        <p:spPr/>
        <p:txBody>
          <a:bodyPr/>
          <a:lstStyle/>
          <a:p>
            <a:fld id="{B4EE2AE5-9218-4A07-842F-E84162EAAD55}" type="slidenum">
              <a:rPr lang="en-IN" smtClean="0"/>
              <a:t>6</a:t>
            </a:fld>
            <a:endParaRPr lang="en-IN" dirty="0"/>
          </a:p>
        </p:txBody>
      </p:sp>
      <p:sp>
        <p:nvSpPr>
          <p:cNvPr id="4" name="Date Placeholder 3">
            <a:extLst>
              <a:ext uri="{FF2B5EF4-FFF2-40B4-BE49-F238E27FC236}">
                <a16:creationId xmlns:a16="http://schemas.microsoft.com/office/drawing/2014/main" id="{5283DF96-CDCE-6198-A813-9DB585D2685C}"/>
              </a:ext>
            </a:extLst>
          </p:cNvPr>
          <p:cNvSpPr>
            <a:spLocks noGrp="1"/>
          </p:cNvSpPr>
          <p:nvPr>
            <p:ph type="dt" sz="half" idx="10"/>
          </p:nvPr>
        </p:nvSpPr>
        <p:spPr/>
        <p:txBody>
          <a:bodyPr/>
          <a:lstStyle/>
          <a:p>
            <a:r>
              <a:rPr lang="en-US"/>
              <a:t>Date: 07/10/2026</a:t>
            </a:r>
            <a:endParaRPr lang="en-IN" dirty="0"/>
          </a:p>
        </p:txBody>
      </p:sp>
      <p:pic>
        <p:nvPicPr>
          <p:cNvPr id="9" name="Picture 8">
            <a:extLst>
              <a:ext uri="{FF2B5EF4-FFF2-40B4-BE49-F238E27FC236}">
                <a16:creationId xmlns:a16="http://schemas.microsoft.com/office/drawing/2014/main" id="{146D0B08-F462-E519-F15E-E0BEB7ABC6DA}"/>
              </a:ext>
            </a:extLst>
          </p:cNvPr>
          <p:cNvPicPr>
            <a:picLocks noChangeAspect="1"/>
          </p:cNvPicPr>
          <p:nvPr/>
        </p:nvPicPr>
        <p:blipFill>
          <a:blip r:embed="rId2"/>
          <a:srcRect l="2899" t="4596" r="67470" b="9539"/>
          <a:stretch>
            <a:fillRect/>
          </a:stretch>
        </p:blipFill>
        <p:spPr>
          <a:xfrm>
            <a:off x="10639226" y="87932"/>
            <a:ext cx="1429148" cy="907748"/>
          </a:xfrm>
          <a:prstGeom prst="rect">
            <a:avLst/>
          </a:prstGeom>
        </p:spPr>
      </p:pic>
      <p:sp>
        <p:nvSpPr>
          <p:cNvPr id="10" name="Footer Placeholder 17">
            <a:extLst>
              <a:ext uri="{FF2B5EF4-FFF2-40B4-BE49-F238E27FC236}">
                <a16:creationId xmlns:a16="http://schemas.microsoft.com/office/drawing/2014/main" id="{C0015C01-C564-94FA-3121-AFE7427CA336}"/>
              </a:ext>
            </a:extLst>
          </p:cNvPr>
          <p:cNvSpPr>
            <a:spLocks noGrp="1"/>
          </p:cNvSpPr>
          <p:nvPr>
            <p:ph type="ftr" sz="quarter" idx="11"/>
          </p:nvPr>
        </p:nvSpPr>
        <p:spPr>
          <a:xfrm>
            <a:off x="4038600" y="6356350"/>
            <a:ext cx="4114800" cy="365125"/>
          </a:xfrm>
        </p:spPr>
        <p:txBody>
          <a:bodyPr/>
          <a:lstStyle/>
          <a:p>
            <a:r>
              <a:rPr lang="en-US" dirty="0"/>
              <a:t>II–Year PBL Project Final Review</a:t>
            </a:r>
            <a:endParaRPr lang="en-IN" dirty="0"/>
          </a:p>
        </p:txBody>
      </p:sp>
      <p:sp>
        <p:nvSpPr>
          <p:cNvPr id="11" name="Content Placeholder 2">
            <a:extLst>
              <a:ext uri="{FF2B5EF4-FFF2-40B4-BE49-F238E27FC236}">
                <a16:creationId xmlns:a16="http://schemas.microsoft.com/office/drawing/2014/main" id="{EE1DBB35-58EA-739D-2CD4-B03EDDE7BA67}"/>
              </a:ext>
            </a:extLst>
          </p:cNvPr>
          <p:cNvSpPr txBox="1">
            <a:spLocks/>
          </p:cNvSpPr>
          <p:nvPr/>
        </p:nvSpPr>
        <p:spPr>
          <a:xfrm>
            <a:off x="528320" y="841248"/>
            <a:ext cx="11135360" cy="694944"/>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Project Output</a:t>
            </a:r>
          </a:p>
          <a:p>
            <a:pPr marL="0" indent="0" algn="ctr">
              <a:spcBef>
                <a:spcPts val="0"/>
              </a:spcBef>
              <a:buNone/>
            </a:pPr>
            <a:r>
              <a:rPr lang="en-US" sz="1200" b="0" i="0" dirty="0">
                <a:latin typeface="Times New Roman" panose="02020603050405020304" pitchFamily="18" charset="0"/>
                <a:cs typeface="Times New Roman" panose="02020603050405020304" pitchFamily="18" charset="0"/>
              </a:rPr>
              <a:t>Model D, test period scored once (14,997 snapshots): PR-AUC 0.289 · F1 0.346 · ROC-AUC 0.895 · precision 0.272 · recall 0.475  —  recency-only baseline 0.240 / 0.315 · positive-rate floor 0.040.</a:t>
            </a:r>
          </a:p>
        </p:txBody>
      </p:sp>
      <p:sp>
        <p:nvSpPr>
          <p:cNvPr id="7" name="Content Placeholder 2">
            <a:extLst>
              <a:ext uri="{FF2B5EF4-FFF2-40B4-BE49-F238E27FC236}">
                <a16:creationId xmlns:a16="http://schemas.microsoft.com/office/drawing/2014/main" id="{D9EE1A65-5554-8149-DD9A-F4A84BC9A521}"/>
              </a:ext>
            </a:extLst>
          </p:cNvPr>
          <p:cNvSpPr txBox="1">
            <a:spLocks/>
          </p:cNvSpPr>
          <p:nvPr/>
        </p:nvSpPr>
        <p:spPr>
          <a:xfrm>
            <a:off x="528320" y="5477256"/>
            <a:ext cx="11135360" cy="877824"/>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Applications</a:t>
            </a:r>
          </a:p>
          <a:p>
            <a:pPr marL="171450" indent="-171450" algn="l">
              <a:spcBef>
                <a:spcPts val="0"/>
              </a:spcBef>
              <a:buFont typeface="Arial" pitchFamily="34" charset="0"/>
              <a:buChar char="•"/>
            </a:pPr>
            <a:r>
              <a:rPr lang="en-US" sz="1200" i="0" dirty="0" b="0">
                <a:latin typeface="Times New Roman" panose="02020603050405020304" pitchFamily="18" charset="0"/>
                <a:cs typeface="Times New Roman" panose="02020603050405020304" pitchFamily="18" charset="0"/>
              </a:rPr>
              <a:t>Retention targeting — rank merchants weekly and route the HIGH band to account managers with the contributing factors already attached.</a:t>
            </a:r>
          </a:p>
          <a:p>
            <a:pPr marL="171450" indent="-171450" algn="l">
              <a:spcBef>
                <a:spcPts val="400"/>
              </a:spcBef>
              <a:buFont typeface="Arial" pitchFamily="34" charset="0"/>
              <a:buChar char="•"/>
            </a:pPr>
            <a:r>
              <a:rPr lang="en-US" sz="1200" i="0" dirty="0" b="0">
                <a:latin typeface="Times New Roman" panose="02020603050405020304" pitchFamily="18" charset="0"/>
                <a:cs typeface="Times New Roman" panose="02020603050405020304" pitchFamily="18" charset="0"/>
              </a:rPr>
              <a:t>Churn-cause diagnostics (failure-driven vs. engagement-driven decline) · revenue-at-risk forecasting · onboarding-cohort health monitoring · targeted pricing and incentive experiments · support triage for merchants whose payment-failure rate is rising.</a:t>
            </a:r>
          </a:p>
        </p:txBody>
      </p:sp>
      <p:pic>
        <p:nvPicPr>
          <p:cNvPr id="12" name="Picture 11" descr="fig_pr_curves.png"/>
          <p:cNvPicPr>
            <a:picLocks noChangeAspect="1"/>
          </p:cNvPicPr>
          <p:nvPr/>
        </p:nvPicPr>
        <p:blipFill>
          <a:blip r:embed="rId3"/>
          <a:stretch>
            <a:fillRect/>
          </a:stretch>
        </p:blipFill>
        <p:spPr>
          <a:xfrm>
            <a:off x="1594601" y="1591056"/>
            <a:ext cx="3449340" cy="1737360"/>
          </a:xfrm>
          <a:prstGeom prst="rect">
            <a:avLst/>
          </a:prstGeom>
        </p:spPr>
      </p:pic>
      <p:pic>
        <p:nvPicPr>
          <p:cNvPr id="13" name="Picture 12" descr="fig_shap_beeswarm.png"/>
          <p:cNvPicPr>
            <a:picLocks noChangeAspect="1"/>
          </p:cNvPicPr>
          <p:nvPr/>
        </p:nvPicPr>
        <p:blipFill>
          <a:blip r:embed="rId4"/>
          <a:stretch>
            <a:fillRect/>
          </a:stretch>
        </p:blipFill>
        <p:spPr>
          <a:xfrm>
            <a:off x="6822966" y="1591056"/>
            <a:ext cx="4130002" cy="1737360"/>
          </a:xfrm>
          <a:prstGeom prst="rect">
            <a:avLst/>
          </a:prstGeom>
        </p:spPr>
      </p:pic>
      <p:sp>
        <p:nvSpPr>
          <p:cNvPr id="14" name="TextBox 13"/>
          <p:cNvSpPr txBox="1"/>
          <p:nvPr/>
        </p:nvSpPr>
        <p:spPr>
          <a:xfrm>
            <a:off x="667512" y="3328415"/>
            <a:ext cx="5303520" cy="164592"/>
          </a:xfrm>
          <a:prstGeom prst="rect">
            <a:avLst/>
          </a:prstGeom>
          <a:noFill/>
        </p:spPr>
        <p:txBody>
          <a:bodyPr wrap="square" lIns="0" rIns="0" tIns="0" bIns="0">
            <a:spAutoFit/>
          </a:bodyPr>
          <a:lstStyle/>
          <a:p>
            <a:pPr algn="ctr"/>
            <a:r>
              <a:rPr sz="900" i="1">
                <a:latin typeface="Times New Roman"/>
              </a:rPr>
              <a:t>Precision–recall curves for Models A–D with their frozen operating points</a:t>
            </a:r>
          </a:p>
        </p:txBody>
      </p:sp>
      <p:sp>
        <p:nvSpPr>
          <p:cNvPr id="15" name="TextBox 14"/>
          <p:cNvSpPr txBox="1"/>
          <p:nvPr/>
        </p:nvSpPr>
        <p:spPr>
          <a:xfrm>
            <a:off x="6236208" y="3328415"/>
            <a:ext cx="5303520" cy="164592"/>
          </a:xfrm>
          <a:prstGeom prst="rect">
            <a:avLst/>
          </a:prstGeom>
          <a:noFill/>
        </p:spPr>
        <p:txBody>
          <a:bodyPr wrap="square" lIns="0" rIns="0" tIns="0" bIns="0">
            <a:spAutoFit/>
          </a:bodyPr>
          <a:lstStyle/>
          <a:p>
            <a:pPr algn="ctr"/>
            <a:r>
              <a:rPr sz="900" i="1">
                <a:latin typeface="Times New Roman"/>
              </a:rPr>
              <a:t>SHAP summary for Model D — tx_count_30d outranks recency_days</a:t>
            </a:r>
          </a:p>
        </p:txBody>
      </p:sp>
      <p:pic>
        <p:nvPicPr>
          <p:cNvPr id="16" name="Picture 15" descr="fig_confusion_matrix.png"/>
          <p:cNvPicPr>
            <a:picLocks noChangeAspect="1"/>
          </p:cNvPicPr>
          <p:nvPr/>
        </p:nvPicPr>
        <p:blipFill>
          <a:blip r:embed="rId5"/>
          <a:stretch>
            <a:fillRect/>
          </a:stretch>
        </p:blipFill>
        <p:spPr>
          <a:xfrm>
            <a:off x="1887123" y="3529584"/>
            <a:ext cx="2864296" cy="1737360"/>
          </a:xfrm>
          <a:prstGeom prst="rect">
            <a:avLst/>
          </a:prstGeom>
        </p:spPr>
      </p:pic>
      <p:pic>
        <p:nvPicPr>
          <p:cNvPr id="17" name="Picture 16" descr="fig_churn_risk_json.png"/>
          <p:cNvPicPr>
            <a:picLocks noChangeAspect="1"/>
          </p:cNvPicPr>
          <p:nvPr/>
        </p:nvPicPr>
        <p:blipFill>
          <a:blip r:embed="rId6"/>
          <a:stretch>
            <a:fillRect/>
          </a:stretch>
        </p:blipFill>
        <p:spPr>
          <a:xfrm>
            <a:off x="7156467" y="3529584"/>
            <a:ext cx="3463000" cy="1737360"/>
          </a:xfrm>
          <a:prstGeom prst="rect">
            <a:avLst/>
          </a:prstGeom>
        </p:spPr>
      </p:pic>
      <p:sp>
        <p:nvSpPr>
          <p:cNvPr id="18" name="TextBox 17"/>
          <p:cNvSpPr txBox="1"/>
          <p:nvPr/>
        </p:nvSpPr>
        <p:spPr>
          <a:xfrm>
            <a:off x="667512" y="5266944"/>
            <a:ext cx="5303520" cy="164592"/>
          </a:xfrm>
          <a:prstGeom prst="rect">
            <a:avLst/>
          </a:prstGeom>
          <a:noFill/>
        </p:spPr>
        <p:txBody>
          <a:bodyPr wrap="square" lIns="0" rIns="0" tIns="0" bIns="0">
            <a:spAutoFit/>
          </a:bodyPr>
          <a:lstStyle/>
          <a:p>
            <a:pPr algn="ctr"/>
            <a:r>
              <a:rPr sz="900" i="1">
                <a:latin typeface="Times New Roman"/>
              </a:rPr>
              <a:t>Confusion matrix at the frozen threshold 0.84 (288 TP / 770 FP / 318 FN / 13,621 TN)</a:t>
            </a:r>
          </a:p>
        </p:txBody>
      </p:sp>
      <p:sp>
        <p:nvSpPr>
          <p:cNvPr id="19" name="TextBox 18"/>
          <p:cNvSpPr txBox="1"/>
          <p:nvPr/>
        </p:nvSpPr>
        <p:spPr>
          <a:xfrm>
            <a:off x="6236208" y="5266944"/>
            <a:ext cx="5303520" cy="164592"/>
          </a:xfrm>
          <a:prstGeom prst="rect">
            <a:avLst/>
          </a:prstGeom>
          <a:noFill/>
        </p:spPr>
        <p:txBody>
          <a:bodyPr wrap="square" lIns="0" rIns="0" tIns="0" bIns="0">
            <a:spAutoFit/>
          </a:bodyPr>
          <a:lstStyle/>
          <a:p>
            <a:pPr algn="ctr"/>
            <a:r>
              <a:rPr sz="900" i="1">
                <a:latin typeface="Times New Roman"/>
              </a:rPr>
              <a:t>GET /merchants/{id}/churn-risk — score, risk band and top SHAP factors</a:t>
            </a:r>
          </a:p>
        </p:txBody>
      </p:sp>
    </p:spTree>
    <p:extLst>
      <p:ext uri="{BB962C8B-B14F-4D97-AF65-F5344CB8AC3E}">
        <p14:creationId xmlns:p14="http://schemas.microsoft.com/office/powerpoint/2010/main" val="3620054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361FE-0713-93E6-DB86-E79648324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4127E-C73E-C2B8-523A-E1BCE6D63F4F}"/>
              </a:ext>
            </a:extLst>
          </p:cNvPr>
          <p:cNvSpPr>
            <a:spLocks noGrp="1"/>
          </p:cNvSpPr>
          <p:nvPr>
            <p:ph type="title"/>
          </p:nvPr>
        </p:nvSpPr>
        <p:spPr>
          <a:xfrm>
            <a:off x="838200" y="365125"/>
            <a:ext cx="10515600" cy="447675"/>
          </a:xfrm>
          <a:solidFill>
            <a:schemeClr val="bg1"/>
          </a:solidFill>
        </p:spPr>
        <p:txBody>
          <a:bodyPr>
            <a:noAutofit/>
          </a:bodyPr>
          <a:lstStyle/>
          <a:p>
            <a:pPr algn="ctr"/>
            <a:r>
              <a:rPr lang="en-IN" sz="3200" b="1" dirty="0">
                <a:latin typeface="Times New Roman" panose="02020603050405020304" pitchFamily="18" charset="0"/>
                <a:cs typeface="Times New Roman" panose="02020603050405020304" pitchFamily="18" charset="0"/>
              </a:rPr>
              <a:t>Conclusion, Limitations &amp; Future Scope</a:t>
            </a:r>
          </a:p>
        </p:txBody>
      </p:sp>
      <p:sp>
        <p:nvSpPr>
          <p:cNvPr id="8" name="Slide Number Placeholder 7">
            <a:extLst>
              <a:ext uri="{FF2B5EF4-FFF2-40B4-BE49-F238E27FC236}">
                <a16:creationId xmlns:a16="http://schemas.microsoft.com/office/drawing/2014/main" id="{D072919A-FB09-BDBD-EB1B-AC9C345A364D}"/>
              </a:ext>
            </a:extLst>
          </p:cNvPr>
          <p:cNvSpPr>
            <a:spLocks noGrp="1"/>
          </p:cNvSpPr>
          <p:nvPr>
            <p:ph type="sldNum" sz="quarter" idx="12"/>
          </p:nvPr>
        </p:nvSpPr>
        <p:spPr/>
        <p:txBody>
          <a:bodyPr/>
          <a:lstStyle/>
          <a:p>
            <a:fld id="{B4EE2AE5-9218-4A07-842F-E84162EAAD55}" type="slidenum">
              <a:rPr lang="en-IN" smtClean="0"/>
              <a:t>7</a:t>
            </a:fld>
            <a:endParaRPr lang="en-IN" dirty="0"/>
          </a:p>
        </p:txBody>
      </p:sp>
      <p:sp>
        <p:nvSpPr>
          <p:cNvPr id="4" name="Date Placeholder 3">
            <a:extLst>
              <a:ext uri="{FF2B5EF4-FFF2-40B4-BE49-F238E27FC236}">
                <a16:creationId xmlns:a16="http://schemas.microsoft.com/office/drawing/2014/main" id="{97532C21-FD78-2AEE-FF81-92AB93C97FB6}"/>
              </a:ext>
            </a:extLst>
          </p:cNvPr>
          <p:cNvSpPr>
            <a:spLocks noGrp="1"/>
          </p:cNvSpPr>
          <p:nvPr>
            <p:ph type="dt" sz="half" idx="10"/>
          </p:nvPr>
        </p:nvSpPr>
        <p:spPr/>
        <p:txBody>
          <a:bodyPr/>
          <a:lstStyle/>
          <a:p>
            <a:r>
              <a:rPr lang="en-US"/>
              <a:t>Date: 07/10/2026</a:t>
            </a:r>
            <a:endParaRPr lang="en-IN" dirty="0"/>
          </a:p>
        </p:txBody>
      </p:sp>
      <p:pic>
        <p:nvPicPr>
          <p:cNvPr id="9" name="Picture 8">
            <a:extLst>
              <a:ext uri="{FF2B5EF4-FFF2-40B4-BE49-F238E27FC236}">
                <a16:creationId xmlns:a16="http://schemas.microsoft.com/office/drawing/2014/main" id="{03F0DB14-E55E-F110-C797-B68990B57514}"/>
              </a:ext>
            </a:extLst>
          </p:cNvPr>
          <p:cNvPicPr>
            <a:picLocks noChangeAspect="1"/>
          </p:cNvPicPr>
          <p:nvPr/>
        </p:nvPicPr>
        <p:blipFill>
          <a:blip r:embed="rId2"/>
          <a:srcRect l="2899" t="4596" r="67470" b="9539"/>
          <a:stretch>
            <a:fillRect/>
          </a:stretch>
        </p:blipFill>
        <p:spPr>
          <a:xfrm>
            <a:off x="10639226" y="87932"/>
            <a:ext cx="1429148" cy="907748"/>
          </a:xfrm>
          <a:prstGeom prst="rect">
            <a:avLst/>
          </a:prstGeom>
        </p:spPr>
      </p:pic>
      <p:sp>
        <p:nvSpPr>
          <p:cNvPr id="10" name="Footer Placeholder 17">
            <a:extLst>
              <a:ext uri="{FF2B5EF4-FFF2-40B4-BE49-F238E27FC236}">
                <a16:creationId xmlns:a16="http://schemas.microsoft.com/office/drawing/2014/main" id="{28924AA9-C1C9-5F20-B7B4-5C66E415C471}"/>
              </a:ext>
            </a:extLst>
          </p:cNvPr>
          <p:cNvSpPr>
            <a:spLocks noGrp="1"/>
          </p:cNvSpPr>
          <p:nvPr>
            <p:ph type="ftr" sz="quarter" idx="11"/>
          </p:nvPr>
        </p:nvSpPr>
        <p:spPr>
          <a:xfrm>
            <a:off x="4038600" y="6356350"/>
            <a:ext cx="4114800" cy="365125"/>
          </a:xfrm>
        </p:spPr>
        <p:txBody>
          <a:bodyPr/>
          <a:lstStyle/>
          <a:p>
            <a:r>
              <a:rPr lang="en-US" dirty="0"/>
              <a:t>II–Year PBL Project Final Review</a:t>
            </a:r>
            <a:endParaRPr lang="en-IN" dirty="0"/>
          </a:p>
        </p:txBody>
      </p:sp>
      <p:sp>
        <p:nvSpPr>
          <p:cNvPr id="11" name="Content Placeholder 2">
            <a:extLst>
              <a:ext uri="{FF2B5EF4-FFF2-40B4-BE49-F238E27FC236}">
                <a16:creationId xmlns:a16="http://schemas.microsoft.com/office/drawing/2014/main" id="{D9DE962E-8FA1-1659-E5F2-3EBFA857DF56}"/>
              </a:ext>
            </a:extLst>
          </p:cNvPr>
          <p:cNvSpPr txBox="1">
            <a:spLocks/>
          </p:cNvSpPr>
          <p:nvPr/>
        </p:nvSpPr>
        <p:spPr>
          <a:xfrm>
            <a:off x="528320" y="995680"/>
            <a:ext cx="11135360" cy="1874519"/>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Conclusion</a:t>
            </a:r>
          </a:p>
          <a:p>
            <a:pPr marL="171450" indent="-171450" algn="l">
              <a:spcBef>
                <a:spcPts val="0"/>
              </a:spcBef>
              <a:buFont typeface="Arial" pitchFamily="34" charset="0"/>
              <a:buChar char="•"/>
            </a:pPr>
            <a:r>
              <a:rPr lang="en-US" sz="1300" dirty="0" b="0" i="0">
                <a:latin typeface="Times New Roman" panose="02020603050405020304" pitchFamily="18" charset="0"/>
                <a:cs typeface="Times New Roman" panose="02020603050405020304" pitchFamily="18" charset="0"/>
              </a:rPr>
              <a:t>We reformulated merchant churn from a static flag into 116,464 forward-looking merchant × weekly snapshot observations, each summarising a 90-day window and labelled by whether the merchant makes zero payment attempts in the following 60 days.</a:t>
            </a:r>
          </a:p>
          <a:p>
            <a:pPr marL="171450" indent="-171450" algn="l">
              <a:spcBef>
                <a:spcPts val="400"/>
              </a:spcBef>
              <a:buFont typeface="Arial" pitchFamily="34" charset="0"/>
              <a:buChar char="•"/>
            </a:pPr>
            <a:r>
              <a:rPr lang="en-US" sz="1300" dirty="0" b="0" i="0">
                <a:latin typeface="Times New Roman" panose="02020603050405020304" pitchFamily="18" charset="0"/>
                <a:cs typeface="Times New Roman" panose="02020603050405020304" pitchFamily="18" charset="0"/>
              </a:rPr>
              <a:t>An XGBoost classifier over 12 leakage-safe RFM and payment-reliability features, trained with scale_pos_weight 23.36 on chronological splits with 9-week purge gaps, reached 0.289 PR-AUC and 0.346 F1 on a test period scored once — against 0.240 and 0.315 for a recency-only rule and a 0.040 floor.</a:t>
            </a:r>
          </a:p>
          <a:p>
            <a:pPr marL="171450" indent="-171450" algn="l">
              <a:spcBef>
                <a:spcPts val="400"/>
              </a:spcBef>
              <a:buFont typeface="Arial" pitchFamily="34" charset="0"/>
              <a:buChar char="•"/>
            </a:pPr>
            <a:r>
              <a:rPr lang="en-US" sz="1300" dirty="0" b="0" i="0">
                <a:latin typeface="Times New Roman" panose="02020603050405020304" pitchFamily="18" charset="0"/>
                <a:cs typeface="Times New Roman" panose="02020603050405020304" pitchFamily="18" charset="0"/>
              </a:rPr>
              <a:t>SHAP ranks tx_count_30d above recency_days and supplies the per-merchant factors returned by the churn-risk endpoint, so every score arrives with its reasons.</a:t>
            </a:r>
          </a:p>
          <a:p>
            <a:pPr marL="171450" indent="-171450" algn="l">
              <a:spcBef>
                <a:spcPts val="400"/>
              </a:spcBef>
              <a:buFont typeface="Arial" pitchFamily="34" charset="0"/>
              <a:buChar char="•"/>
            </a:pPr>
            <a:r>
              <a:rPr lang="en-US" sz="1300" dirty="0" b="0" i="0">
                <a:latin typeface="Times New Roman" panose="02020603050405020304" pitchFamily="18" charset="0"/>
                <a:cs typeface="Times New Roman" panose="02020603050405020304" pitchFamily="18" charset="0"/>
              </a:rPr>
              <a:t>The most useful outcome was not a score: it was the recency leak the tests caught — a defect that would have improved every metric in this report and been invisible in all of them.</a:t>
            </a:r>
          </a:p>
        </p:txBody>
      </p:sp>
      <p:sp>
        <p:nvSpPr>
          <p:cNvPr id="5" name="Content Placeholder 2">
            <a:extLst>
              <a:ext uri="{FF2B5EF4-FFF2-40B4-BE49-F238E27FC236}">
                <a16:creationId xmlns:a16="http://schemas.microsoft.com/office/drawing/2014/main" id="{A7714C8B-8CE9-ACE7-94F1-0BFA4EB5B338}"/>
              </a:ext>
            </a:extLst>
          </p:cNvPr>
          <p:cNvSpPr txBox="1">
            <a:spLocks/>
          </p:cNvSpPr>
          <p:nvPr/>
        </p:nvSpPr>
        <p:spPr>
          <a:xfrm>
            <a:off x="6232358" y="3063240"/>
            <a:ext cx="5431322" cy="246888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Future Scope</a:t>
            </a: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Survival analysis in place of a fixed 60-day flag — estimate time-to-churn and compare 30, 60 and 90-day horizons directly.</a:t>
            </a:r>
            <a:endParaRPr lang="en-IN" sz="20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Repeat across many generator seeds and report confidence intervals, so small PR-AUC differences can be quoted responsibly.</a:t>
            </a:r>
            <a:endParaRPr lang="en-IN" sz="20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Calibrate with isotonic or Platt scaling so churn_score becomes a probability and the threshold can be chosen on cost.</a:t>
            </a:r>
            <a:endParaRPr lang="en-IN" sz="20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Reproduce the base paper’s SMOTEENN resampling and GA-tuned XGBoost on our chronological splits, for a like-for-like comparison.</a:t>
            </a:r>
            <a:endParaRPr lang="en-IN" sz="2000" dirty="0">
              <a:latin typeface="Times New Roman" panose="02020603050405020304" pitchFamily="18" charset="0"/>
              <a:cs typeface="Times New Roman" panose="02020603050405020304" pitchFamily="18" charset="0"/>
            </a:endParaRP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Validate on real merchant transaction data; stream events through Kafka for incremental features and online retraining under drift.</a:t>
            </a:r>
            <a:endParaRPr lang="en-IN" sz="20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A053D1FB-4EE1-2E64-D1C8-8DCF2C5E10E8}"/>
              </a:ext>
            </a:extLst>
          </p:cNvPr>
          <p:cNvSpPr txBox="1">
            <a:spLocks/>
          </p:cNvSpPr>
          <p:nvPr/>
        </p:nvSpPr>
        <p:spPr>
          <a:xfrm>
            <a:off x="528320" y="3063240"/>
            <a:ext cx="5431322" cy="2468880"/>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800" b="1" dirty="0" i="0">
                <a:latin typeface="Times New Roman" panose="02020603050405020304" pitchFamily="18" charset="0"/>
                <a:cs typeface="Times New Roman" panose="02020603050405020304" pitchFamily="18" charset="0"/>
              </a:rPr>
              <a:t>Limitations</a:t>
            </a:r>
          </a:p>
          <a:p>
            <a:pPr marL="171450" indent="-171450" algn="l">
              <a:spcBef>
                <a:spcPts val="0"/>
              </a:spcBef>
              <a:buFont typeface="Arial" pitchFamily="34" charset="0"/>
              <a:buChar char="•"/>
            </a:pPr>
            <a:r>
              <a:rPr lang="en-US" sz="1300" i="0" dirty="0" b="0">
                <a:latin typeface="Times New Roman" panose="02020603050405020304" pitchFamily="18" charset="0"/>
                <a:cs typeface="Times New Roman" panose="02020603050405020304" pitchFamily="18" charset="0"/>
              </a:rPr>
              <a:t>Synthetic data. The generator was written to be difficult, but we wrote it: the result is evidence about the method, not about real merchants.</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A single generator seed — no confidence interval should be inferred for differences of a point or two of PR-AUC.</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The +0.014 PR-AUC from reliability features is statistically unresolved (bootstrap CI [−0.002, +0.031]).</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Uncalibrated: a churn_score of 0.84 is a rank, not an 84% probability; no reliability curve was fitted and the reweighting distorts the output by design.</a:t>
            </a:r>
          </a:p>
          <a:p>
            <a:pPr marL="171450" indent="-171450" algn="l">
              <a:spcBef>
                <a:spcPts val="400"/>
              </a:spcBef>
              <a:buFont typeface="Arial" pitchFamily="34" charset="0"/>
              <a:buChar char="•"/>
            </a:pPr>
            <a:r>
              <a:rPr lang="en-US" sz="1300" i="0" dirty="0" b="0">
                <a:latin typeface="Times New Roman" panose="02020603050405020304" pitchFamily="18" charset="0"/>
                <a:cs typeface="Times New Roman" panose="02020603050405020304" pitchFamily="18" charset="0"/>
              </a:rPr>
              <a:t>Precision 0.272 — a retention list of 1,058 merchants contains 288 real leavers; cost-sensitive thresholding is untouched.</a:t>
            </a:r>
          </a:p>
        </p:txBody>
      </p:sp>
    </p:spTree>
    <p:extLst>
      <p:ext uri="{BB962C8B-B14F-4D97-AF65-F5344CB8AC3E}">
        <p14:creationId xmlns:p14="http://schemas.microsoft.com/office/powerpoint/2010/main" val="580770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B6885-6B9A-270E-D011-C6195CEF0164}"/>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5B7B8957-8828-E623-0D1B-083069FECCBF}"/>
              </a:ext>
            </a:extLst>
          </p:cNvPr>
          <p:cNvSpPr>
            <a:spLocks noGrp="1"/>
          </p:cNvSpPr>
          <p:nvPr>
            <p:ph type="sldNum" sz="quarter" idx="12"/>
          </p:nvPr>
        </p:nvSpPr>
        <p:spPr/>
        <p:txBody>
          <a:bodyPr/>
          <a:lstStyle/>
          <a:p>
            <a:fld id="{B4EE2AE5-9218-4A07-842F-E84162EAAD55}" type="slidenum">
              <a:rPr lang="en-IN" smtClean="0"/>
              <a:t>8</a:t>
            </a:fld>
            <a:endParaRPr lang="en-IN" dirty="0"/>
          </a:p>
        </p:txBody>
      </p:sp>
      <p:sp>
        <p:nvSpPr>
          <p:cNvPr id="15" name="Subtitle 2">
            <a:extLst>
              <a:ext uri="{FF2B5EF4-FFF2-40B4-BE49-F238E27FC236}">
                <a16:creationId xmlns:a16="http://schemas.microsoft.com/office/drawing/2014/main" id="{3648C33D-8B31-6B82-2E8D-DC4C841DE344}"/>
              </a:ext>
            </a:extLst>
          </p:cNvPr>
          <p:cNvSpPr txBox="1">
            <a:spLocks/>
          </p:cNvSpPr>
          <p:nvPr/>
        </p:nvSpPr>
        <p:spPr>
          <a:xfrm>
            <a:off x="2898648" y="5210996"/>
            <a:ext cx="6400800" cy="879298"/>
          </a:xfrm>
          <a:prstGeom prst="rect">
            <a:avLst/>
          </a:prstGeom>
          <a:solidFill>
            <a:schemeClr val="bg1"/>
          </a:solidFill>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Clr>
                <a:srgbClr val="D34817"/>
              </a:buClr>
              <a:buSzPct val="85000"/>
              <a:defRPr/>
              <a:buNone/>
            </a:pPr>
            <a:r>
              <a:rPr lang="en-US" sz="1800" dirty="0" b="0" i="0">
                <a:solidFill>
                  <a:srgbClr val="000000"/>
                </a:solidFill>
                <a:latin typeface="Times New Roman" panose="02020603050405020304" pitchFamily="18" charset="0"/>
                <a:cs typeface="Times New Roman" panose="02020603050405020304" pitchFamily="18" charset="0"/>
              </a:rPr>
              <a:t>PRANAV KUMAR GATTUPALLI, MONIKA P D</a:t>
            </a:r>
          </a:p>
          <a:p>
            <a:pPr marL="0" indent="0" algn="ctr">
              <a:spcBef>
                <a:spcPts val="0"/>
              </a:spcBef>
              <a:buClr>
                <a:srgbClr val="D34817"/>
              </a:buClr>
              <a:buSzPct val="85000"/>
              <a:defRPr/>
              <a:buNone/>
            </a:pPr>
            <a:r>
              <a:rPr lang="en-US" sz="1800" dirty="0" b="0" i="0">
                <a:solidFill>
                  <a:srgbClr val="000000"/>
                </a:solidFill>
                <a:latin typeface="Times New Roman" panose="02020603050405020304" pitchFamily="18" charset="0"/>
                <a:cs typeface="Times New Roman" panose="02020603050405020304" pitchFamily="18" charset="0"/>
              </a:rPr>
              <a:t>Dept. of Computer Science and Engineering</a:t>
            </a:r>
          </a:p>
        </p:txBody>
      </p:sp>
      <p:sp>
        <p:nvSpPr>
          <p:cNvPr id="18" name="Date Placeholder 17">
            <a:extLst>
              <a:ext uri="{FF2B5EF4-FFF2-40B4-BE49-F238E27FC236}">
                <a16:creationId xmlns:a16="http://schemas.microsoft.com/office/drawing/2014/main" id="{2A3C68FE-708A-E575-2346-D66B76F28EA2}"/>
              </a:ext>
            </a:extLst>
          </p:cNvPr>
          <p:cNvSpPr>
            <a:spLocks noGrp="1"/>
          </p:cNvSpPr>
          <p:nvPr>
            <p:ph type="dt" sz="half" idx="10"/>
          </p:nvPr>
        </p:nvSpPr>
        <p:spPr/>
        <p:txBody>
          <a:bodyPr/>
          <a:lstStyle/>
          <a:p>
            <a:r>
              <a:rPr lang="en-US"/>
              <a:t>Date: 07/10/2026</a:t>
            </a:r>
            <a:endParaRPr lang="en-IN" dirty="0"/>
          </a:p>
        </p:txBody>
      </p:sp>
      <p:pic>
        <p:nvPicPr>
          <p:cNvPr id="5" name="Picture 4">
            <a:extLst>
              <a:ext uri="{FF2B5EF4-FFF2-40B4-BE49-F238E27FC236}">
                <a16:creationId xmlns:a16="http://schemas.microsoft.com/office/drawing/2014/main" id="{FE233C03-9E8E-963B-6AEE-A6F08D165C4D}"/>
              </a:ext>
            </a:extLst>
          </p:cNvPr>
          <p:cNvPicPr>
            <a:picLocks noChangeAspect="1"/>
          </p:cNvPicPr>
          <p:nvPr/>
        </p:nvPicPr>
        <p:blipFill>
          <a:blip r:embed="rId2"/>
          <a:srcRect t="8407" b="13744"/>
          <a:stretch>
            <a:fillRect/>
          </a:stretch>
        </p:blipFill>
        <p:spPr>
          <a:xfrm>
            <a:off x="2746625" y="136525"/>
            <a:ext cx="6698746" cy="1333069"/>
          </a:xfrm>
          <a:prstGeom prst="rect">
            <a:avLst/>
          </a:prstGeom>
        </p:spPr>
      </p:pic>
      <p:pic>
        <p:nvPicPr>
          <p:cNvPr id="9" name="Picture 8">
            <a:extLst>
              <a:ext uri="{FF2B5EF4-FFF2-40B4-BE49-F238E27FC236}">
                <a16:creationId xmlns:a16="http://schemas.microsoft.com/office/drawing/2014/main" id="{16DAC499-8CE4-9EB6-4C6F-AF24243B97F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704988" y="1646945"/>
            <a:ext cx="4782020" cy="3386700"/>
          </a:xfrm>
          <a:prstGeom prst="rect">
            <a:avLst/>
          </a:prstGeom>
        </p:spPr>
      </p:pic>
      <p:sp>
        <p:nvSpPr>
          <p:cNvPr id="10" name="Footer Placeholder 17">
            <a:extLst>
              <a:ext uri="{FF2B5EF4-FFF2-40B4-BE49-F238E27FC236}">
                <a16:creationId xmlns:a16="http://schemas.microsoft.com/office/drawing/2014/main" id="{85787E0A-82D9-5CAB-8C09-1F3F24B08CBB}"/>
              </a:ext>
            </a:extLst>
          </p:cNvPr>
          <p:cNvSpPr>
            <a:spLocks noGrp="1"/>
          </p:cNvSpPr>
          <p:nvPr>
            <p:ph type="ftr" sz="quarter" idx="11"/>
          </p:nvPr>
        </p:nvSpPr>
        <p:spPr>
          <a:xfrm>
            <a:off x="4038600" y="6356350"/>
            <a:ext cx="4114800" cy="365125"/>
          </a:xfrm>
        </p:spPr>
        <p:txBody>
          <a:bodyPr/>
          <a:lstStyle/>
          <a:p>
            <a:r>
              <a:rPr lang="en-US" dirty="0"/>
              <a:t>II–Year PBL Project Final Review</a:t>
            </a:r>
            <a:endParaRPr lang="en-IN" dirty="0"/>
          </a:p>
        </p:txBody>
      </p:sp>
      <p:sp>
        <p:nvSpPr>
          <p:cNvPr id="3" name="TextBox 2">
            <a:extLst>
              <a:ext uri="{FF2B5EF4-FFF2-40B4-BE49-F238E27FC236}">
                <a16:creationId xmlns:a16="http://schemas.microsoft.com/office/drawing/2014/main" id="{D8918ED0-F7FD-61C4-5F6D-45B18985D959}"/>
              </a:ext>
            </a:extLst>
          </p:cNvPr>
          <p:cNvSpPr txBox="1"/>
          <p:nvPr/>
        </p:nvSpPr>
        <p:spPr>
          <a:xfrm>
            <a:off x="5105400" y="7513282"/>
            <a:ext cx="2241884" cy="769441"/>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GitHub Repository</a:t>
            </a:r>
            <a:endParaRPr lang="en-IN" dirty="0"/>
          </a:p>
        </p:txBody>
      </p:sp>
      <p:grpSp>
        <p:nvGrpSpPr>
          <p:cNvPr id="14" name="Group 13">
            <a:extLst>
              <a:ext uri="{FF2B5EF4-FFF2-40B4-BE49-F238E27FC236}">
                <a16:creationId xmlns:a16="http://schemas.microsoft.com/office/drawing/2014/main" id="{62006C30-F416-F103-AA83-A6555D710B62}"/>
              </a:ext>
            </a:extLst>
          </p:cNvPr>
          <p:cNvGrpSpPr/>
          <p:nvPr/>
        </p:nvGrpSpPr>
        <p:grpSpPr>
          <a:xfrm>
            <a:off x="702620" y="3285299"/>
            <a:ext cx="3014358" cy="1775255"/>
            <a:chOff x="702620" y="3285299"/>
            <a:chExt cx="3014358" cy="1775255"/>
          </a:xfrm>
        </p:grpSpPr>
        <p:pic>
          <p:nvPicPr>
            <p:cNvPr id="4" name="Picture 3" descr="Video - Free technology icons">
              <a:extLst>
                <a:ext uri="{FF2B5EF4-FFF2-40B4-BE49-F238E27FC236}">
                  <a16:creationId xmlns:a16="http://schemas.microsoft.com/office/drawing/2014/main" id="{20AF4B87-C09B-B0BF-63C8-DF3D52FD4665}"/>
                </a:ext>
              </a:extLst>
            </p:cNvPr>
            <p:cNvPicPr>
              <a:picLocks noChangeAspect="1"/>
            </p:cNvPicPr>
            <p:nvPr/>
          </p:nvPicPr>
          <p:blipFill>
            <a:blip r:embed="rId4"/>
            <a:stretch>
              <a:fillRect/>
            </a:stretch>
          </p:blipFill>
          <p:spPr>
            <a:xfrm>
              <a:off x="1705024" y="3285299"/>
              <a:ext cx="997561" cy="997561"/>
            </a:xfrm>
            <a:prstGeom prst="rect">
              <a:avLst/>
            </a:prstGeom>
          </p:spPr>
        </p:pic>
        <p:sp>
          <p:nvSpPr>
            <p:cNvPr id="13" name="Content Placeholder 2">
              <a:extLst>
                <a:ext uri="{FF2B5EF4-FFF2-40B4-BE49-F238E27FC236}">
                  <a16:creationId xmlns:a16="http://schemas.microsoft.com/office/drawing/2014/main" id="{B7369601-F94C-8283-5031-C1F98541F694}"/>
                </a:ext>
              </a:extLst>
            </p:cNvPr>
            <p:cNvSpPr txBox="1">
              <a:spLocks/>
            </p:cNvSpPr>
            <p:nvPr/>
          </p:nvSpPr>
          <p:spPr>
            <a:xfrm>
              <a:off x="702620" y="4181255"/>
              <a:ext cx="3014358" cy="879299"/>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600" b="1" dirty="0" i="0">
                  <a:latin typeface="Times New Roman" panose="02020603050405020304" pitchFamily="18" charset="0"/>
                  <a:cs typeface="Times New Roman" panose="02020603050405020304" pitchFamily="18" charset="0"/>
                </a:rPr>
                <a:t>Project Video Link</a:t>
              </a:r>
              <a:endParaRPr lang="en-US" sz="2000" b="1" dirty="0">
                <a:latin typeface="Times New Roman" panose="02020603050405020304" pitchFamily="18" charset="0"/>
                <a:cs typeface="Times New Roman" panose="02020603050405020304" pitchFamily="18" charset="0"/>
              </a:endParaRPr>
            </a:p>
            <a:p>
              <a:pPr marL="0" indent="0" algn="l">
                <a:spcBef>
                  <a:spcPts val="0"/>
                </a:spcBef>
                <a:buNone/>
              </a:pPr>
              <a:r>
                <a:rPr lang="en-US" sz="1200" i="0" dirty="0" b="0">
                  <a:latin typeface="Times New Roman" panose="02020603050405020304" pitchFamily="18" charset="0"/>
                  <a:cs typeface="Times New Roman" panose="02020603050405020304" pitchFamily="18" charset="0"/>
                </a:rPr>
                <a:t>&lt;paste the demo video link here&gt;</a:t>
              </a:r>
            </a:p>
          </p:txBody>
        </p:sp>
      </p:grpSp>
      <p:grpSp>
        <p:nvGrpSpPr>
          <p:cNvPr id="25" name="Group 24">
            <a:extLst>
              <a:ext uri="{FF2B5EF4-FFF2-40B4-BE49-F238E27FC236}">
                <a16:creationId xmlns:a16="http://schemas.microsoft.com/office/drawing/2014/main" id="{1EB63A19-86CA-308B-4F8B-37E96DFBBAB8}"/>
              </a:ext>
            </a:extLst>
          </p:cNvPr>
          <p:cNvGrpSpPr/>
          <p:nvPr/>
        </p:nvGrpSpPr>
        <p:grpSpPr>
          <a:xfrm>
            <a:off x="8475018" y="3344430"/>
            <a:ext cx="3014358" cy="1716124"/>
            <a:chOff x="8475018" y="3344430"/>
            <a:chExt cx="3014358" cy="1716124"/>
          </a:xfrm>
        </p:grpSpPr>
        <p:pic>
          <p:nvPicPr>
            <p:cNvPr id="11" name="Picture 10">
              <a:extLst>
                <a:ext uri="{FF2B5EF4-FFF2-40B4-BE49-F238E27FC236}">
                  <a16:creationId xmlns:a16="http://schemas.microsoft.com/office/drawing/2014/main" id="{6A4E5C56-C77A-1635-7CC4-71BC5FB9B0E0}"/>
                </a:ext>
              </a:extLst>
            </p:cNvPr>
            <p:cNvPicPr>
              <a:picLocks noChangeAspect="1"/>
            </p:cNvPicPr>
            <p:nvPr/>
          </p:nvPicPr>
          <p:blipFill>
            <a:blip r:embed="rId5"/>
            <a:stretch>
              <a:fillRect/>
            </a:stretch>
          </p:blipFill>
          <p:spPr>
            <a:xfrm>
              <a:off x="9536553" y="3344430"/>
              <a:ext cx="879298" cy="879298"/>
            </a:xfrm>
            <a:prstGeom prst="rect">
              <a:avLst/>
            </a:prstGeom>
          </p:spPr>
        </p:pic>
        <p:sp>
          <p:nvSpPr>
            <p:cNvPr id="24" name="Content Placeholder 2">
              <a:extLst>
                <a:ext uri="{FF2B5EF4-FFF2-40B4-BE49-F238E27FC236}">
                  <a16:creationId xmlns:a16="http://schemas.microsoft.com/office/drawing/2014/main" id="{19622691-213E-2374-E58E-253554DF0409}"/>
                </a:ext>
              </a:extLst>
            </p:cNvPr>
            <p:cNvSpPr txBox="1">
              <a:spLocks/>
            </p:cNvSpPr>
            <p:nvPr/>
          </p:nvSpPr>
          <p:spPr>
            <a:xfrm>
              <a:off x="8475018" y="4181255"/>
              <a:ext cx="3014358" cy="879299"/>
            </a:xfrm>
            <a:prstGeom prst="rect">
              <a:avLst/>
            </a:prstGeom>
            <a:noFill/>
            <a:ln>
              <a:solidFill>
                <a:schemeClr val="tx1"/>
              </a:solidFill>
            </a:ln>
          </p:spPr>
          <p:txBody>
            <a:bodyPr vert="horz" lIns="91440" tIns="45720" rIns="91440" bIns="45720" rtlCol="0" wrap="square">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600" b="1" dirty="0" i="0">
                  <a:latin typeface="Times New Roman" panose="02020603050405020304" pitchFamily="18" charset="0"/>
                  <a:cs typeface="Times New Roman" panose="02020603050405020304" pitchFamily="18" charset="0"/>
                </a:rPr>
                <a:t>GitHub Repository Link</a:t>
              </a:r>
              <a:endParaRPr lang="en-US" sz="2000" b="1" dirty="0">
                <a:latin typeface="Times New Roman" panose="02020603050405020304" pitchFamily="18" charset="0"/>
                <a:cs typeface="Times New Roman" panose="02020603050405020304" pitchFamily="18" charset="0"/>
              </a:endParaRPr>
            </a:p>
            <a:p>
              <a:pPr marL="0" indent="0" algn="l">
                <a:spcBef>
                  <a:spcPts val="0"/>
                </a:spcBef>
                <a:buNone/>
              </a:pPr>
              <a:r>
                <a:rPr lang="en-US" sz="1200" i="0" dirty="0" b="0">
                  <a:latin typeface="Times New Roman" panose="02020603050405020304" pitchFamily="18" charset="0"/>
                  <a:cs typeface="Times New Roman" panose="02020603050405020304" pitchFamily="18" charset="0"/>
                </a:rPr>
                <a:t>github.com/prxnav007/Vaultlock-API</a:t>
              </a:r>
            </a:p>
          </p:txBody>
        </p:sp>
      </p:grpSp>
    </p:spTree>
    <p:extLst>
      <p:ext uri="{BB962C8B-B14F-4D97-AF65-F5344CB8AC3E}">
        <p14:creationId xmlns:p14="http://schemas.microsoft.com/office/powerpoint/2010/main" val="3718180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1143</TotalTime>
  <Words>577</Words>
  <Application>Microsoft Office PowerPoint</Application>
  <PresentationFormat>Widescreen</PresentationFormat>
  <Paragraphs>104</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CS3503 – Machine Learning PBL Project Review</vt:lpstr>
      <vt:lpstr>Problem &amp; Objectives</vt:lpstr>
      <vt:lpstr>Input, Analysis &amp; Insights</vt:lpstr>
      <vt:lpstr> Technical Approach</vt:lpstr>
      <vt:lpstr> Feasibility, Risk and Challenges</vt:lpstr>
      <vt:lpstr> Result and Applications </vt:lpstr>
      <vt:lpstr>Conclusion, Limitations &amp;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ayeesha nasreen</dc:creator>
  <cp:lastModifiedBy>Pratham Verma</cp:lastModifiedBy>
  <cp:revision>16</cp:revision>
  <dcterms:created xsi:type="dcterms:W3CDTF">2025-03-10T15:11:33Z</dcterms:created>
  <dcterms:modified xsi:type="dcterms:W3CDTF">2026-09-24T06:06:07Z</dcterms:modified>
</cp:coreProperties>
</file>